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5" r:id="rId9"/>
    <p:sldId id="261" r:id="rId10"/>
    <p:sldId id="268" r:id="rId11"/>
    <p:sldId id="262" r:id="rId12"/>
    <p:sldId id="269" r:id="rId13"/>
    <p:sldId id="263" r:id="rId14"/>
    <p:sldId id="264" r:id="rId15"/>
  </p:sldIdLst>
  <p:sldSz cx="18288000" cy="10287000"/>
  <p:notesSz cx="6858000" cy="9144000"/>
  <p:embeddedFontLst>
    <p:embeddedFont>
      <p:font typeface="Arimo Bold" panose="020B0604020202020204" charset="0"/>
      <p:regular r:id="rId17"/>
    </p:embeddedFont>
    <p:embeddedFont>
      <p:font typeface="Quattrocento Sans" panose="020B0502050000020003" pitchFamily="34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</p:embeddedFont>
    <p:embeddedFont>
      <p:font typeface="Roboto Bold" panose="020B0604020202020204" charset="0"/>
      <p:regular r:id="rId23"/>
    </p:embeddedFont>
    <p:embeddedFont>
      <p:font typeface="Roboto Italics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65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D329-4DD9-A100-88C6-060215E5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B21544-78F8-319E-50CB-22CF0F3F46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77064D-F3B6-9788-5D07-DA0F00563FC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5CF8DF5-D12E-61F1-24C0-A4FFAC6A9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9CAD6F2-E25E-362A-58D8-F5A73AB07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E4D19-9A8E-DF41-A31B-C2808DD8B6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4CD38-FFE2-3B65-CBA8-27B5003D2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84372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4C2B0-EE02-9A13-5698-C69882818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79BEB8-D61A-293E-DF13-DA43FBCA2A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00F7E-96F5-813E-6E7F-3219C81D351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54306F1-5D16-6EE7-6FE3-44F7980EBC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9705DA7-325C-03C6-D8D0-BDCD6EBFC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B1FDF-FFFB-B945-4804-C2AAA841A2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2F344-0D7B-DB69-B256-0B5D207FC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30902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CCAF3-4BBF-4593-9078-C02D6C945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AC7329B-6631-8516-82DF-854783F381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43F2BE-5EED-E692-6B50-661C747D190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80163D9-99EB-3BBF-CB4C-5D79FB80B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0F7EFC3-7192-0595-7FF9-06D01BC20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CD8C9-B6E3-EE4F-F62C-06463DA119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3AD58-B7EA-CB6B-046D-0BA834456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8174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E876F-FAEB-5349-0871-E231E4462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398623-F0F6-83E8-0E31-9C0986E601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3F4BF-35DC-2A0E-BC8D-72C13239B93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F2EB0D0-9881-889D-F4C7-459D3830D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EA3E359-ED36-21EE-54A9-42B094BD2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6250C-A0B7-1ECE-D058-85465C4A03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C9C60-087D-DD36-FF1A-D8E588D6B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43989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originality.ai/automated-fact-checker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77902" y="8971102"/>
            <a:ext cx="6622456" cy="4114800"/>
            <a:chOff x="0" y="0"/>
            <a:chExt cx="8829942" cy="548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29929" cy="5486400"/>
            </a:xfrm>
            <a:custGeom>
              <a:avLst/>
              <a:gdLst/>
              <a:ahLst/>
              <a:cxnLst/>
              <a:rect l="l" t="t" r="r" b="b"/>
              <a:pathLst>
                <a:path w="8829929" h="5486400">
                  <a:moveTo>
                    <a:pt x="0" y="0"/>
                  </a:moveTo>
                  <a:lnTo>
                    <a:pt x="8829929" y="0"/>
                  </a:lnTo>
                  <a:lnTo>
                    <a:pt x="8829929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048934" y="7584843"/>
            <a:ext cx="10420731" cy="8195567"/>
            <a:chOff x="0" y="0"/>
            <a:chExt cx="13894308" cy="10927423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13894308" cy="10927461"/>
            </a:xfrm>
            <a:custGeom>
              <a:avLst/>
              <a:gdLst/>
              <a:ahLst/>
              <a:cxnLst/>
              <a:rect l="l" t="t" r="r" b="b"/>
              <a:pathLst>
                <a:path w="13894308" h="10927461">
                  <a:moveTo>
                    <a:pt x="13894308" y="0"/>
                  </a:moveTo>
                  <a:lnTo>
                    <a:pt x="0" y="0"/>
                  </a:lnTo>
                  <a:lnTo>
                    <a:pt x="0" y="10927461"/>
                  </a:lnTo>
                  <a:lnTo>
                    <a:pt x="13894308" y="10927461"/>
                  </a:lnTo>
                  <a:lnTo>
                    <a:pt x="13894308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771489" y="8971093"/>
            <a:ext cx="6622456" cy="4114800"/>
            <a:chOff x="0" y="0"/>
            <a:chExt cx="8829942" cy="548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29929" cy="5486400"/>
            </a:xfrm>
            <a:custGeom>
              <a:avLst/>
              <a:gdLst/>
              <a:ahLst/>
              <a:cxnLst/>
              <a:rect l="l" t="t" r="r" b="b"/>
              <a:pathLst>
                <a:path w="8829929" h="5486400">
                  <a:moveTo>
                    <a:pt x="0" y="0"/>
                  </a:moveTo>
                  <a:lnTo>
                    <a:pt x="8829929" y="0"/>
                  </a:lnTo>
                  <a:lnTo>
                    <a:pt x="8829929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-1625013" y="8668588"/>
            <a:ext cx="6591357" cy="4114800"/>
            <a:chOff x="0" y="0"/>
            <a:chExt cx="8788476" cy="548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88527" cy="5486400"/>
            </a:xfrm>
            <a:custGeom>
              <a:avLst/>
              <a:gdLst/>
              <a:ahLst/>
              <a:cxnLst/>
              <a:rect l="l" t="t" r="r" b="b"/>
              <a:pathLst>
                <a:path w="8788527" h="5486400">
                  <a:moveTo>
                    <a:pt x="0" y="0"/>
                  </a:moveTo>
                  <a:lnTo>
                    <a:pt x="8788527" y="0"/>
                  </a:lnTo>
                  <a:lnTo>
                    <a:pt x="8788527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702384" y="9118787"/>
            <a:ext cx="4195610" cy="4114800"/>
            <a:chOff x="0" y="0"/>
            <a:chExt cx="5594147" cy="548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94096" cy="5486400"/>
            </a:xfrm>
            <a:custGeom>
              <a:avLst/>
              <a:gdLst/>
              <a:ahLst/>
              <a:cxnLst/>
              <a:rect l="l" t="t" r="r" b="b"/>
              <a:pathLst>
                <a:path w="5594096" h="5486400">
                  <a:moveTo>
                    <a:pt x="0" y="0"/>
                  </a:moveTo>
                  <a:lnTo>
                    <a:pt x="5594096" y="0"/>
                  </a:lnTo>
                  <a:lnTo>
                    <a:pt x="559409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-1653892" y="9258300"/>
            <a:ext cx="4398912" cy="1770202"/>
            <a:chOff x="0" y="0"/>
            <a:chExt cx="5865216" cy="23602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865241" cy="2360295"/>
            </a:xfrm>
            <a:custGeom>
              <a:avLst/>
              <a:gdLst/>
              <a:ahLst/>
              <a:cxnLst/>
              <a:rect l="l" t="t" r="r" b="b"/>
              <a:pathLst>
                <a:path w="5865241" h="2360295">
                  <a:moveTo>
                    <a:pt x="0" y="0"/>
                  </a:moveTo>
                  <a:lnTo>
                    <a:pt x="5865241" y="0"/>
                  </a:lnTo>
                  <a:lnTo>
                    <a:pt x="5865241" y="2360295"/>
                  </a:lnTo>
                  <a:lnTo>
                    <a:pt x="0" y="2360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5" r="-14" b="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0424703" y="9591856"/>
            <a:ext cx="1997878" cy="1436637"/>
            <a:chOff x="0" y="0"/>
            <a:chExt cx="2663838" cy="19155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63825" cy="1915541"/>
            </a:xfrm>
            <a:custGeom>
              <a:avLst/>
              <a:gdLst/>
              <a:ahLst/>
              <a:cxnLst/>
              <a:rect l="l" t="t" r="r" b="b"/>
              <a:pathLst>
                <a:path w="2663825" h="1915541">
                  <a:moveTo>
                    <a:pt x="0" y="0"/>
                  </a:moveTo>
                  <a:lnTo>
                    <a:pt x="2663825" y="0"/>
                  </a:lnTo>
                  <a:lnTo>
                    <a:pt x="2663825" y="1915541"/>
                  </a:lnTo>
                  <a:lnTo>
                    <a:pt x="0" y="1915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3" r="-23" b="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3141519" y="9258300"/>
            <a:ext cx="4700635" cy="4114800"/>
            <a:chOff x="0" y="0"/>
            <a:chExt cx="6267514" cy="548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67577" cy="5486400"/>
            </a:xfrm>
            <a:custGeom>
              <a:avLst/>
              <a:gdLst/>
              <a:ahLst/>
              <a:cxnLst/>
              <a:rect l="l" t="t" r="r" b="b"/>
              <a:pathLst>
                <a:path w="6267577" h="5486400">
                  <a:moveTo>
                    <a:pt x="0" y="0"/>
                  </a:moveTo>
                  <a:lnTo>
                    <a:pt x="6267577" y="0"/>
                  </a:lnTo>
                  <a:lnTo>
                    <a:pt x="6267577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1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244" b="-245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479650" y="3372107"/>
            <a:ext cx="2255730" cy="1948520"/>
            <a:chOff x="0" y="0"/>
            <a:chExt cx="3007639" cy="259802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07614" cy="2598039"/>
            </a:xfrm>
            <a:custGeom>
              <a:avLst/>
              <a:gdLst/>
              <a:ahLst/>
              <a:cxnLst/>
              <a:rect l="l" t="t" r="r" b="b"/>
              <a:pathLst>
                <a:path w="3007614" h="2598039">
                  <a:moveTo>
                    <a:pt x="6350" y="0"/>
                  </a:moveTo>
                  <a:lnTo>
                    <a:pt x="3001264" y="0"/>
                  </a:lnTo>
                  <a:cubicBezTo>
                    <a:pt x="3004820" y="0"/>
                    <a:pt x="3007614" y="2794"/>
                    <a:pt x="3007614" y="6350"/>
                  </a:cubicBezTo>
                  <a:lnTo>
                    <a:pt x="3007614" y="2591689"/>
                  </a:lnTo>
                  <a:cubicBezTo>
                    <a:pt x="3007614" y="2595245"/>
                    <a:pt x="3004820" y="2598039"/>
                    <a:pt x="3001264" y="2598039"/>
                  </a:cubicBezTo>
                  <a:lnTo>
                    <a:pt x="6350" y="2598039"/>
                  </a:lnTo>
                  <a:cubicBezTo>
                    <a:pt x="2794" y="2598039"/>
                    <a:pt x="0" y="2595245"/>
                    <a:pt x="0" y="2591689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591689"/>
                  </a:lnTo>
                  <a:lnTo>
                    <a:pt x="6350" y="2591689"/>
                  </a:lnTo>
                  <a:lnTo>
                    <a:pt x="6350" y="2585339"/>
                  </a:lnTo>
                  <a:lnTo>
                    <a:pt x="3001264" y="2585339"/>
                  </a:lnTo>
                  <a:lnTo>
                    <a:pt x="3001264" y="2591689"/>
                  </a:lnTo>
                  <a:lnTo>
                    <a:pt x="2994914" y="2591689"/>
                  </a:lnTo>
                  <a:lnTo>
                    <a:pt x="2994914" y="6350"/>
                  </a:lnTo>
                  <a:lnTo>
                    <a:pt x="3001264" y="6350"/>
                  </a:lnTo>
                  <a:lnTo>
                    <a:pt x="300126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00000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219075"/>
              <a:ext cx="3007639" cy="281710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7559"/>
                </a:lnSpc>
              </a:pPr>
              <a:r>
                <a:rPr lang="en-US" sz="45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TEAM LOGO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566112" y="3414970"/>
            <a:ext cx="12555598" cy="74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7"/>
              </a:lnSpc>
            </a:pPr>
            <a:r>
              <a:rPr lang="en-US" sz="540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PROBLEM STATEMENT TITLE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12401" y="6712001"/>
            <a:ext cx="9531001" cy="1157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0"/>
              </a:lnSpc>
            </a:pPr>
            <a:r>
              <a:rPr lang="en-US" sz="4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Presented by Team Name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10560" y="4615891"/>
            <a:ext cx="12866713" cy="193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0"/>
              </a:lnSpc>
            </a:pPr>
            <a:r>
              <a:rPr lang="en-US" sz="4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Tag Line (1-sentence) for your Startup</a:t>
            </a:r>
          </a:p>
          <a:p>
            <a:pPr algn="ctr">
              <a:lnSpc>
                <a:spcPts val="6046"/>
              </a:lnSpc>
            </a:pPr>
            <a:r>
              <a:rPr lang="en-US" sz="36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(e.g. "The Happiest Place On Earth" by Disneyland)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4023198" y="9118787"/>
            <a:ext cx="4195610" cy="4114800"/>
            <a:chOff x="0" y="0"/>
            <a:chExt cx="5594147" cy="5486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594096" cy="5486400"/>
            </a:xfrm>
            <a:custGeom>
              <a:avLst/>
              <a:gdLst/>
              <a:ahLst/>
              <a:cxnLst/>
              <a:rect l="l" t="t" r="r" b="b"/>
              <a:pathLst>
                <a:path w="5594096" h="5486400">
                  <a:moveTo>
                    <a:pt x="0" y="0"/>
                  </a:moveTo>
                  <a:lnTo>
                    <a:pt x="5594096" y="0"/>
                  </a:lnTo>
                  <a:lnTo>
                    <a:pt x="559409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4812401" y="9739551"/>
            <a:ext cx="1997878" cy="1436637"/>
            <a:chOff x="0" y="0"/>
            <a:chExt cx="2663838" cy="191551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663825" cy="1915541"/>
            </a:xfrm>
            <a:custGeom>
              <a:avLst/>
              <a:gdLst/>
              <a:ahLst/>
              <a:cxnLst/>
              <a:rect l="l" t="t" r="r" b="b"/>
              <a:pathLst>
                <a:path w="2663825" h="1915541">
                  <a:moveTo>
                    <a:pt x="0" y="0"/>
                  </a:moveTo>
                  <a:lnTo>
                    <a:pt x="2663825" y="0"/>
                  </a:lnTo>
                  <a:lnTo>
                    <a:pt x="2663825" y="1915541"/>
                  </a:lnTo>
                  <a:lnTo>
                    <a:pt x="0" y="1915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3" r="-23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10733460">
            <a:off x="-1227087" y="-1117644"/>
            <a:ext cx="3284401" cy="2884627"/>
            <a:chOff x="0" y="0"/>
            <a:chExt cx="4379201" cy="384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9214" cy="3846195"/>
            </a:xfrm>
            <a:custGeom>
              <a:avLst/>
              <a:gdLst/>
              <a:ahLst/>
              <a:cxnLst/>
              <a:rect l="l" t="t" r="r" b="b"/>
              <a:pathLst>
                <a:path w="4379214" h="3846195">
                  <a:moveTo>
                    <a:pt x="0" y="0"/>
                  </a:moveTo>
                  <a:lnTo>
                    <a:pt x="4379214" y="0"/>
                  </a:lnTo>
                  <a:lnTo>
                    <a:pt x="4379214" y="3846195"/>
                  </a:lnTo>
                  <a:lnTo>
                    <a:pt x="0" y="384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" b="-1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512580" y="559679"/>
            <a:ext cx="14779800" cy="104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5"/>
              </a:lnSpc>
            </a:pPr>
            <a:r>
              <a:rPr lang="en-US" sz="400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IMPORTANT INSTRUCTIONS</a:t>
            </a:r>
          </a:p>
          <a:p>
            <a:pPr algn="ctr">
              <a:lnSpc>
                <a:spcPts val="1562"/>
              </a:lnSpc>
            </a:pPr>
            <a:endParaRPr lang="en-US" sz="4000">
              <a:solidFill>
                <a:srgbClr val="6040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03678" y="1999669"/>
            <a:ext cx="15203996" cy="7879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Presentation Guidelines:</a:t>
            </a:r>
          </a:p>
          <a:p>
            <a:pPr algn="l">
              <a:lnSpc>
                <a:spcPts val="2351"/>
              </a:lnSpc>
            </a:pPr>
            <a:endParaRPr lang="en-US" sz="2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4031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Slide Limit: Please ensure that the total number of slides does not exceed seven (7), including the title slide.</a:t>
            </a:r>
          </a:p>
          <a:p>
            <a:pPr algn="l">
              <a:lnSpc>
                <a:spcPts val="4031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Content Format: Kindly refrain from using lengthy paragraphs. Present your ideas in bullet points, diagrams, infographics, or images.</a:t>
            </a:r>
          </a:p>
          <a:p>
            <a:pPr algn="l">
              <a:lnSpc>
                <a:spcPts val="4031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Clarity: It is essential that your explanations are precise and easily comprehensible.</a:t>
            </a:r>
          </a:p>
          <a:p>
            <a:pPr algn="l">
              <a:lnSpc>
                <a:spcPts val="4031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4. Originality: The idea submitted is recommended to be both unique and innovative.</a:t>
            </a:r>
          </a:p>
          <a:p>
            <a:pPr algn="l">
              <a:lnSpc>
                <a:spcPts val="4031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5. Template Usage: Utilize only the provided template for the presentation and refrain from altering the content details specified in previous slides.</a:t>
            </a:r>
          </a:p>
          <a:p>
            <a:pPr algn="l">
              <a:lnSpc>
                <a:spcPts val="4031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6. File Format: Save the completed document as a PDF and submit it via the designated Google form. Please note that other formats, such as PowerPoint or Word documents, will not be accepted.</a:t>
            </a:r>
          </a:p>
          <a:p>
            <a:pPr algn="l">
              <a:lnSpc>
                <a:spcPts val="4031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7. Font Size: Adhere to the following minimum font sizes: Title - 40, Subtitle - 32, and Body Text - 24 when designing the slides.</a:t>
            </a:r>
          </a:p>
          <a:p>
            <a:pPr algn="l">
              <a:lnSpc>
                <a:spcPts val="2351"/>
              </a:lnSpc>
            </a:pPr>
            <a:endParaRPr lang="en-US" sz="2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4031"/>
              </a:lnSpc>
            </a:pPr>
            <a:r>
              <a:rPr lang="en-US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Pls remove this slide (Important Pointers) prior to uploading your idea details on the CIE portal.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4" b="-24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33455" y="1078154"/>
            <a:ext cx="14402095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5"/>
              </a:lnSpc>
            </a:pPr>
            <a:r>
              <a:rPr lang="en-US" sz="32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Please ensure below pointers are met while submitting the Idea PPT:</a:t>
            </a:r>
          </a:p>
          <a:p>
            <a:pPr algn="l">
              <a:lnSpc>
                <a:spcPts val="2351"/>
              </a:lnSpc>
            </a:pPr>
            <a:endParaRPr lang="en-US" sz="32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784347" y="9258300"/>
            <a:ext cx="4398912" cy="1770202"/>
            <a:chOff x="0" y="0"/>
            <a:chExt cx="5865216" cy="23602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65241" cy="2360295"/>
            </a:xfrm>
            <a:custGeom>
              <a:avLst/>
              <a:gdLst/>
              <a:ahLst/>
              <a:cxnLst/>
              <a:rect l="l" t="t" r="r" b="b"/>
              <a:pathLst>
                <a:path w="5865241" h="2360295">
                  <a:moveTo>
                    <a:pt x="0" y="0"/>
                  </a:moveTo>
                  <a:lnTo>
                    <a:pt x="5865241" y="0"/>
                  </a:lnTo>
                  <a:lnTo>
                    <a:pt x="5865241" y="2360295"/>
                  </a:lnTo>
                  <a:lnTo>
                    <a:pt x="0" y="2360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" r="-14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10733460">
            <a:off x="-1227087" y="-1117644"/>
            <a:ext cx="3284401" cy="2884627"/>
            <a:chOff x="0" y="0"/>
            <a:chExt cx="4379201" cy="38461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79214" cy="3846195"/>
            </a:xfrm>
            <a:custGeom>
              <a:avLst/>
              <a:gdLst/>
              <a:ahLst/>
              <a:cxnLst/>
              <a:rect l="l" t="t" r="r" b="b"/>
              <a:pathLst>
                <a:path w="4379214" h="3846195">
                  <a:moveTo>
                    <a:pt x="0" y="0"/>
                  </a:moveTo>
                  <a:lnTo>
                    <a:pt x="4379214" y="0"/>
                  </a:lnTo>
                  <a:lnTo>
                    <a:pt x="4379214" y="3846195"/>
                  </a:lnTo>
                  <a:lnTo>
                    <a:pt x="0" y="384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7" b="-1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5107391" y="1724673"/>
            <a:ext cx="6744300" cy="5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400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TEAM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79736" y="3008976"/>
            <a:ext cx="1555090" cy="1246527"/>
            <a:chOff x="0" y="0"/>
            <a:chExt cx="2073453" cy="16620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73402" cy="1662049"/>
            </a:xfrm>
            <a:custGeom>
              <a:avLst/>
              <a:gdLst/>
              <a:ahLst/>
              <a:cxnLst/>
              <a:rect l="l" t="t" r="r" b="b"/>
              <a:pathLst>
                <a:path w="2073402" h="1662049">
                  <a:moveTo>
                    <a:pt x="0" y="0"/>
                  </a:moveTo>
                  <a:lnTo>
                    <a:pt x="2073402" y="0"/>
                  </a:lnTo>
                  <a:lnTo>
                    <a:pt x="2073402" y="1662049"/>
                  </a:lnTo>
                  <a:lnTo>
                    <a:pt x="0" y="16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165" r="-2" b="-1116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83244" y="4296651"/>
            <a:ext cx="1947596" cy="25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486302" y="3008976"/>
            <a:ext cx="1555090" cy="1246527"/>
            <a:chOff x="0" y="0"/>
            <a:chExt cx="2073453" cy="16620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73402" cy="1662049"/>
            </a:xfrm>
            <a:custGeom>
              <a:avLst/>
              <a:gdLst/>
              <a:ahLst/>
              <a:cxnLst/>
              <a:rect l="l" t="t" r="r" b="b"/>
              <a:pathLst>
                <a:path w="2073402" h="1662049">
                  <a:moveTo>
                    <a:pt x="0" y="0"/>
                  </a:moveTo>
                  <a:lnTo>
                    <a:pt x="2073402" y="0"/>
                  </a:lnTo>
                  <a:lnTo>
                    <a:pt x="2073402" y="1662049"/>
                  </a:lnTo>
                  <a:lnTo>
                    <a:pt x="0" y="16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165" r="-2" b="-11165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290158" y="3008976"/>
            <a:ext cx="1555090" cy="1246527"/>
            <a:chOff x="0" y="0"/>
            <a:chExt cx="2073453" cy="166203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73402" cy="1662049"/>
            </a:xfrm>
            <a:custGeom>
              <a:avLst/>
              <a:gdLst/>
              <a:ahLst/>
              <a:cxnLst/>
              <a:rect l="l" t="t" r="r" b="b"/>
              <a:pathLst>
                <a:path w="2073402" h="1662049">
                  <a:moveTo>
                    <a:pt x="0" y="0"/>
                  </a:moveTo>
                  <a:lnTo>
                    <a:pt x="2073402" y="0"/>
                  </a:lnTo>
                  <a:lnTo>
                    <a:pt x="2073402" y="1662049"/>
                  </a:lnTo>
                  <a:lnTo>
                    <a:pt x="0" y="16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165" r="-2" b="-1116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825598" y="6209595"/>
            <a:ext cx="1555090" cy="1246527"/>
            <a:chOff x="0" y="0"/>
            <a:chExt cx="2073453" cy="16620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3402" cy="1662049"/>
            </a:xfrm>
            <a:custGeom>
              <a:avLst/>
              <a:gdLst/>
              <a:ahLst/>
              <a:cxnLst/>
              <a:rect l="l" t="t" r="r" b="b"/>
              <a:pathLst>
                <a:path w="2073402" h="1662049">
                  <a:moveTo>
                    <a:pt x="0" y="0"/>
                  </a:moveTo>
                  <a:lnTo>
                    <a:pt x="2073402" y="0"/>
                  </a:lnTo>
                  <a:lnTo>
                    <a:pt x="2073402" y="1662049"/>
                  </a:lnTo>
                  <a:lnTo>
                    <a:pt x="0" y="16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165" r="-2" b="-11165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3543014" y="6209595"/>
            <a:ext cx="1555090" cy="1246527"/>
            <a:chOff x="0" y="0"/>
            <a:chExt cx="2073453" cy="16620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73402" cy="1662049"/>
            </a:xfrm>
            <a:custGeom>
              <a:avLst/>
              <a:gdLst/>
              <a:ahLst/>
              <a:cxnLst/>
              <a:rect l="l" t="t" r="r" b="b"/>
              <a:pathLst>
                <a:path w="2073402" h="1662049">
                  <a:moveTo>
                    <a:pt x="0" y="0"/>
                  </a:moveTo>
                  <a:lnTo>
                    <a:pt x="2073402" y="0"/>
                  </a:lnTo>
                  <a:lnTo>
                    <a:pt x="2073402" y="1662049"/>
                  </a:lnTo>
                  <a:lnTo>
                    <a:pt x="0" y="16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165" r="-2" b="-1116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6128223" y="6209595"/>
            <a:ext cx="1555090" cy="1246527"/>
            <a:chOff x="0" y="0"/>
            <a:chExt cx="2073453" cy="166203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73402" cy="1662049"/>
            </a:xfrm>
            <a:custGeom>
              <a:avLst/>
              <a:gdLst/>
              <a:ahLst/>
              <a:cxnLst/>
              <a:rect l="l" t="t" r="r" b="b"/>
              <a:pathLst>
                <a:path w="2073402" h="1662049">
                  <a:moveTo>
                    <a:pt x="0" y="0"/>
                  </a:moveTo>
                  <a:lnTo>
                    <a:pt x="2073402" y="0"/>
                  </a:lnTo>
                  <a:lnTo>
                    <a:pt x="2073402" y="1662049"/>
                  </a:lnTo>
                  <a:lnTo>
                    <a:pt x="0" y="16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165" r="-2" b="-11165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3289811" y="4299023"/>
            <a:ext cx="1947596" cy="25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93666" y="4296651"/>
            <a:ext cx="1947596" cy="25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9107" y="7497270"/>
            <a:ext cx="1947596" cy="25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46523" y="7499642"/>
            <a:ext cx="1947596" cy="25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31732" y="7497270"/>
            <a:ext cx="1947596" cy="25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3244" y="4828927"/>
            <a:ext cx="1947596" cy="1150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Student Details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Proposed Role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89811" y="4828927"/>
            <a:ext cx="1947596" cy="77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4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Student  Details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93666" y="4828927"/>
            <a:ext cx="1947596" cy="77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4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Student Details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9107" y="8029546"/>
            <a:ext cx="1947596" cy="77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Student  Details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46523" y="8029546"/>
            <a:ext cx="1947596" cy="77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Student Details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50515" y="8029546"/>
            <a:ext cx="1947596" cy="77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Student  Details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</a:p>
          <a:p>
            <a:pPr algn="ctr">
              <a:lnSpc>
                <a:spcPts val="2033"/>
              </a:lnSpc>
            </a:pPr>
            <a:r>
              <a:rPr lang="en-US" sz="12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....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44" b="-245"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9934842" y="3562902"/>
            <a:ext cx="8064684" cy="514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Team Structure:</a:t>
            </a:r>
          </a:p>
          <a:p>
            <a:pPr marL="526647" lvl="3" indent="-131662" algn="l">
              <a:lnSpc>
                <a:spcPts val="4031"/>
              </a:lnSpc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Size</a:t>
            </a: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minimum 4 / max 6 members.</a:t>
            </a:r>
          </a:p>
          <a:p>
            <a:pPr marL="526647" lvl="3" indent="-131662" algn="l">
              <a:lnSpc>
                <a:spcPts val="4031"/>
              </a:lnSpc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Diversity</a:t>
            </a: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A mix of skills, interests, etc., is highly encouraged.</a:t>
            </a:r>
          </a:p>
          <a:p>
            <a:pPr marL="307211" lvl="3" indent="-76803" algn="l">
              <a:lnSpc>
                <a:spcPts val="2351"/>
              </a:lnSpc>
            </a:pPr>
            <a:endParaRPr lang="en-US" sz="24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26647" lvl="3" indent="-131662" algn="ctr">
              <a:lnSpc>
                <a:spcPts val="4031"/>
              </a:lnSpc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Team Details:</a:t>
            </a:r>
          </a:p>
          <a:p>
            <a:pPr marL="526647" lvl="3" indent="-13166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Member Details</a:t>
            </a: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Include Name, Photo, Dept. </a:t>
            </a:r>
          </a:p>
          <a:p>
            <a:pPr marL="526647" lvl="3" indent="-131662" algn="l">
              <a:lnSpc>
                <a:spcPts val="4031"/>
              </a:lnSpc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Adding a proposed role is good but optional</a:t>
            </a:r>
          </a:p>
          <a:p>
            <a:pPr marL="526647" lvl="3" indent="-13166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Why this team </a:t>
            </a: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(i.e. why should we invest in your)?</a:t>
            </a:r>
          </a:p>
          <a:p>
            <a:pPr marL="526647" lvl="3" indent="-131662" algn="l">
              <a:lnSpc>
                <a:spcPts val="4031"/>
              </a:lnSpc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makes this team good/great for this startup idea?</a:t>
            </a:r>
          </a:p>
          <a:p>
            <a:pPr marL="307211" lvl="3" indent="-76803" algn="ctr">
              <a:lnSpc>
                <a:spcPts val="2351"/>
              </a:lnSpc>
            </a:pPr>
            <a:endParaRPr lang="en-US" sz="24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10733460">
            <a:off x="-1227087" y="-1117644"/>
            <a:ext cx="3284401" cy="2884627"/>
            <a:chOff x="0" y="0"/>
            <a:chExt cx="4379201" cy="384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9214" cy="3846195"/>
            </a:xfrm>
            <a:custGeom>
              <a:avLst/>
              <a:gdLst/>
              <a:ahLst/>
              <a:cxnLst/>
              <a:rect l="l" t="t" r="r" b="b"/>
              <a:pathLst>
                <a:path w="4379214" h="3846195">
                  <a:moveTo>
                    <a:pt x="0" y="0"/>
                  </a:moveTo>
                  <a:lnTo>
                    <a:pt x="4379214" y="0"/>
                  </a:lnTo>
                  <a:lnTo>
                    <a:pt x="4379214" y="3846195"/>
                  </a:lnTo>
                  <a:lnTo>
                    <a:pt x="0" y="384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" b="-1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492171" y="1947129"/>
            <a:ext cx="9303601" cy="5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400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01101" y="3415865"/>
            <a:ext cx="11485797" cy="472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75"/>
              </a:lnSpc>
            </a:pPr>
            <a:r>
              <a:rPr lang="en-US" sz="3200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What is the Problem your startup team is trying to solve?</a:t>
            </a:r>
          </a:p>
          <a:p>
            <a:pPr algn="ctr">
              <a:lnSpc>
                <a:spcPts val="2351"/>
              </a:lnSpc>
            </a:pPr>
            <a:endParaRPr lang="en-US" sz="3200" dirty="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2351"/>
              </a:lnSpc>
            </a:pPr>
            <a:endParaRPr lang="en-US" sz="3200" dirty="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Who has the problem?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What does it cost them?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How often does it happen?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Specific pain points</a:t>
            </a:r>
          </a:p>
          <a:p>
            <a:pPr marL="359127" lvl="3" indent="-89782" algn="ctr">
              <a:lnSpc>
                <a:spcPts val="2351"/>
              </a:lnSpc>
            </a:pPr>
            <a:endParaRPr lang="en-US" sz="24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4" b="-24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63C7-6885-D6B3-70C6-3DF637B50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AA222BF-5771-3B8F-1A87-AAAE278266A8}"/>
              </a:ext>
            </a:extLst>
          </p:cNvPr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3D7F7B3-FD2A-94B5-4C01-AC0E850D7A27}"/>
                </a:ext>
              </a:extLst>
            </p:cNvPr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9D57B17-8DDD-6ADF-5DAB-E1E149EE0A06}"/>
              </a:ext>
            </a:extLst>
          </p:cNvPr>
          <p:cNvGrpSpPr/>
          <p:nvPr/>
        </p:nvGrpSpPr>
        <p:grpSpPr>
          <a:xfrm rot="10733460">
            <a:off x="-1227087" y="-1117644"/>
            <a:ext cx="3284401" cy="2884627"/>
            <a:chOff x="0" y="0"/>
            <a:chExt cx="4379201" cy="3846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B2D0929-C160-0DBC-6137-CC9F505930D2}"/>
                </a:ext>
              </a:extLst>
            </p:cNvPr>
            <p:cNvSpPr/>
            <p:nvPr/>
          </p:nvSpPr>
          <p:spPr>
            <a:xfrm>
              <a:off x="0" y="0"/>
              <a:ext cx="4379214" cy="3846195"/>
            </a:xfrm>
            <a:custGeom>
              <a:avLst/>
              <a:gdLst/>
              <a:ahLst/>
              <a:cxnLst/>
              <a:rect l="l" t="t" r="r" b="b"/>
              <a:pathLst>
                <a:path w="4379214" h="3846195">
                  <a:moveTo>
                    <a:pt x="0" y="0"/>
                  </a:moveTo>
                  <a:lnTo>
                    <a:pt x="4379214" y="0"/>
                  </a:lnTo>
                  <a:lnTo>
                    <a:pt x="4379214" y="3846195"/>
                  </a:lnTo>
                  <a:lnTo>
                    <a:pt x="0" y="384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" b="-16"/>
              </a:stretch>
            </a:blip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745469CD-EFE6-50F9-A31D-A924CC3C9B23}"/>
              </a:ext>
            </a:extLst>
          </p:cNvPr>
          <p:cNvSpPr txBox="1"/>
          <p:nvPr/>
        </p:nvSpPr>
        <p:spPr>
          <a:xfrm>
            <a:off x="4492171" y="255538"/>
            <a:ext cx="9303601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4000" dirty="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Problem Statement </a:t>
            </a:r>
          </a:p>
          <a:p>
            <a:pPr algn="ctr">
              <a:lnSpc>
                <a:spcPts val="4462"/>
              </a:lnSpc>
            </a:pPr>
            <a:r>
              <a:rPr lang="en-US" sz="4000" dirty="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Multimodal Fake News Detection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7E96966-14A6-3760-8128-8E3EA3A42D01}"/>
              </a:ext>
            </a:extLst>
          </p:cNvPr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7ED0C2B-56D4-6142-0ED9-607C750CFC25}"/>
                </a:ext>
              </a:extLst>
            </p:cNvPr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4" b="-245"/>
              </a:stretch>
            </a:blipFill>
          </p:spPr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E05BF02E-553A-4C4C-48C3-0ACAC83A100F}"/>
              </a:ext>
            </a:extLst>
          </p:cNvPr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B68209-73E5-DBBE-BCF5-A13C5B42EB3F}"/>
              </a:ext>
            </a:extLst>
          </p:cNvPr>
          <p:cNvSpPr txBox="1"/>
          <p:nvPr/>
        </p:nvSpPr>
        <p:spPr>
          <a:xfrm>
            <a:off x="415108" y="2445008"/>
            <a:ext cx="476649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Fake news encompasses deliberately false or misleading information designed to deceive readers, often for political, financial, or ideological gain.</a:t>
            </a:r>
          </a:p>
          <a:p>
            <a:endParaRPr lang="en-US" sz="2800" b="1" dirty="0">
              <a:solidFill>
                <a:srgbClr val="E59F54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r>
              <a:rPr lang="en-US" sz="2800" b="1" dirty="0">
                <a:solidFill>
                  <a:srgbClr val="E59F54"/>
                </a:solidFill>
                <a:latin typeface="Quattrocento Sans" pitchFamily="34" charset="0"/>
              </a:rPr>
              <a:t>Fake news is distributed through social media platforms, messaging apps and website</a:t>
            </a:r>
            <a:endParaRPr lang="en-IN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3617C3-632B-DEE2-EA86-7032645AE040}"/>
              </a:ext>
            </a:extLst>
          </p:cNvPr>
          <p:cNvSpPr txBox="1"/>
          <p:nvPr/>
        </p:nvSpPr>
        <p:spPr>
          <a:xfrm>
            <a:off x="5334000" y="2628900"/>
            <a:ext cx="5867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Fake news spreads 6 times faster than legitimate news.</a:t>
            </a:r>
          </a:p>
          <a:p>
            <a:endParaRPr lang="en-IN" sz="2800" dirty="0"/>
          </a:p>
          <a:p>
            <a:r>
              <a:rPr lang="en-IN" sz="2800" dirty="0"/>
              <a:t>83% of adults in developed nations have encountered fake news </a:t>
            </a:r>
          </a:p>
          <a:p>
            <a:endParaRPr lang="en-IN" sz="2800" dirty="0"/>
          </a:p>
          <a:p>
            <a:r>
              <a:rPr lang="en-IN" sz="2800" dirty="0"/>
              <a:t>Manual fact checking cannot scale to volume and velocity of modern information flow.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A46D50-72FE-B434-5563-41851CCD3166}"/>
              </a:ext>
            </a:extLst>
          </p:cNvPr>
          <p:cNvSpPr txBox="1"/>
          <p:nvPr/>
        </p:nvSpPr>
        <p:spPr>
          <a:xfrm>
            <a:off x="11506200" y="2628900"/>
            <a:ext cx="5867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Fake news can cause: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economic damage (stock market rumours)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public health crisis (covid 19 misinformation 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social polarization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democratic erosion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474C2A-AC06-5B81-8B50-E1C7618F2865}"/>
              </a:ext>
            </a:extLst>
          </p:cNvPr>
          <p:cNvSpPr txBox="1"/>
          <p:nvPr/>
        </p:nvSpPr>
        <p:spPr>
          <a:xfrm>
            <a:off x="1219200" y="7886700"/>
            <a:ext cx="1645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IN" sz="4800" dirty="0"/>
              <a:t>The scale of the problem requires automated detection systems powered by AI</a:t>
            </a:r>
          </a:p>
        </p:txBody>
      </p:sp>
    </p:spTree>
    <p:extLst>
      <p:ext uri="{BB962C8B-B14F-4D97-AF65-F5344CB8AC3E}">
        <p14:creationId xmlns:p14="http://schemas.microsoft.com/office/powerpoint/2010/main" val="3001765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10733460">
            <a:off x="-1227087" y="-1117644"/>
            <a:ext cx="3284401" cy="2884627"/>
            <a:chOff x="0" y="0"/>
            <a:chExt cx="4379201" cy="384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9214" cy="3846195"/>
            </a:xfrm>
            <a:custGeom>
              <a:avLst/>
              <a:gdLst/>
              <a:ahLst/>
              <a:cxnLst/>
              <a:rect l="l" t="t" r="r" b="b"/>
              <a:pathLst>
                <a:path w="4379214" h="3846195">
                  <a:moveTo>
                    <a:pt x="0" y="0"/>
                  </a:moveTo>
                  <a:lnTo>
                    <a:pt x="4379214" y="0"/>
                  </a:lnTo>
                  <a:lnTo>
                    <a:pt x="4379214" y="3846195"/>
                  </a:lnTo>
                  <a:lnTo>
                    <a:pt x="0" y="384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" b="-1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492200" y="893331"/>
            <a:ext cx="9303601" cy="5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4000" dirty="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Existing Solutions and Competition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62551" y="2418340"/>
            <a:ext cx="12276706" cy="464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5"/>
              </a:lnSpc>
            </a:pPr>
            <a:r>
              <a:rPr lang="en-US" sz="3200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How is the problem being </a:t>
            </a:r>
            <a:r>
              <a:rPr lang="en-US" sz="3200" i="1" dirty="0">
                <a:solidFill>
                  <a:srgbClr val="0070C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solved</a:t>
            </a:r>
            <a:r>
              <a:rPr lang="en-US" sz="3200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 today (existing approaches/solutions) and who (</a:t>
            </a:r>
            <a:r>
              <a:rPr lang="en-US" sz="3200" i="1" dirty="0">
                <a:solidFill>
                  <a:srgbClr val="0070C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competition</a:t>
            </a:r>
            <a:r>
              <a:rPr lang="en-US" sz="3200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) is offering it?</a:t>
            </a:r>
          </a:p>
          <a:p>
            <a:pPr algn="l">
              <a:lnSpc>
                <a:spcPts val="2351"/>
              </a:lnSpc>
            </a:pPr>
            <a:endParaRPr lang="en-US" sz="3200" dirty="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4031"/>
              </a:lnSpc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2351"/>
              </a:lnSpc>
            </a:pPr>
            <a:endParaRPr lang="en-US" sz="24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is the problem being addressed today?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are the gaps between existing solutions and the customers’ needs?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Who are your competitors and what are they offering?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4" b="-24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1A259-D1FC-B930-EE2B-BBB70D946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A13EDE4-B7A9-1978-8ABE-88DD3661E085}"/>
              </a:ext>
            </a:extLst>
          </p:cNvPr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610912-E5E7-45BB-CDD9-739418424D00}"/>
                </a:ext>
              </a:extLst>
            </p:cNvPr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A68C3BB-A6AF-015B-8044-37CDBCA4CE78}"/>
              </a:ext>
            </a:extLst>
          </p:cNvPr>
          <p:cNvGrpSpPr/>
          <p:nvPr/>
        </p:nvGrpSpPr>
        <p:grpSpPr>
          <a:xfrm rot="10733460">
            <a:off x="-1227087" y="-1117644"/>
            <a:ext cx="3284401" cy="2884627"/>
            <a:chOff x="0" y="0"/>
            <a:chExt cx="4379201" cy="3846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2E2316B-CFD6-7070-BD5F-20522EA67888}"/>
                </a:ext>
              </a:extLst>
            </p:cNvPr>
            <p:cNvSpPr/>
            <p:nvPr/>
          </p:nvSpPr>
          <p:spPr>
            <a:xfrm>
              <a:off x="0" y="0"/>
              <a:ext cx="4379214" cy="3846195"/>
            </a:xfrm>
            <a:custGeom>
              <a:avLst/>
              <a:gdLst/>
              <a:ahLst/>
              <a:cxnLst/>
              <a:rect l="l" t="t" r="r" b="b"/>
              <a:pathLst>
                <a:path w="4379214" h="3846195">
                  <a:moveTo>
                    <a:pt x="0" y="0"/>
                  </a:moveTo>
                  <a:lnTo>
                    <a:pt x="4379214" y="0"/>
                  </a:lnTo>
                  <a:lnTo>
                    <a:pt x="4379214" y="3846195"/>
                  </a:lnTo>
                  <a:lnTo>
                    <a:pt x="0" y="384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" b="-16"/>
              </a:stretch>
            </a:blip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0F26A17-E235-86A9-A0D1-F4E845D2A66A}"/>
              </a:ext>
            </a:extLst>
          </p:cNvPr>
          <p:cNvSpPr txBox="1"/>
          <p:nvPr/>
        </p:nvSpPr>
        <p:spPr>
          <a:xfrm>
            <a:off x="4492200" y="893331"/>
            <a:ext cx="9303601" cy="5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4000" dirty="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Existing Solutions and Competition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F2140B8-C0E7-71A6-BEC4-1A554EAD619C}"/>
              </a:ext>
            </a:extLst>
          </p:cNvPr>
          <p:cNvSpPr txBox="1"/>
          <p:nvPr/>
        </p:nvSpPr>
        <p:spPr>
          <a:xfrm>
            <a:off x="3262551" y="2418340"/>
            <a:ext cx="12276706" cy="464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5"/>
              </a:lnSpc>
            </a:pPr>
            <a:r>
              <a:rPr lang="en-US" sz="3200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How is the problem being </a:t>
            </a:r>
            <a:r>
              <a:rPr lang="en-US" sz="3200" i="1" dirty="0">
                <a:solidFill>
                  <a:srgbClr val="0070C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solved</a:t>
            </a:r>
            <a:r>
              <a:rPr lang="en-US" sz="3200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 today (existing approaches/solutions) and who (</a:t>
            </a:r>
            <a:r>
              <a:rPr lang="en-US" sz="3200" i="1" dirty="0">
                <a:solidFill>
                  <a:srgbClr val="0070C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competition</a:t>
            </a:r>
            <a:r>
              <a:rPr lang="en-US" sz="3200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) is offering it?</a:t>
            </a:r>
          </a:p>
          <a:p>
            <a:pPr algn="l">
              <a:lnSpc>
                <a:spcPts val="2351"/>
              </a:lnSpc>
            </a:pPr>
            <a:endParaRPr lang="en-US" sz="3200" dirty="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4031"/>
              </a:lnSpc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2351"/>
              </a:lnSpc>
            </a:pPr>
            <a:endParaRPr lang="en-US" sz="24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is the problem being addressed today?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are the gaps between existing solutions and the customers’ needs?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Who are your competitors and what are they offering?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8B7B787C-3A7C-8737-3A98-1A4725380D7E}"/>
              </a:ext>
            </a:extLst>
          </p:cNvPr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AE32938-BDAB-4DE9-3022-DFEF341BA2C0}"/>
                </a:ext>
              </a:extLst>
            </p:cNvPr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4" b="-245"/>
              </a:stretch>
            </a:blipFill>
          </p:spPr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D89CA706-50BE-91B2-3472-024B528CDBB6}"/>
              </a:ext>
            </a:extLst>
          </p:cNvPr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72340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21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10733460">
            <a:off x="-1227087" y="-1117644"/>
            <a:ext cx="3284401" cy="2884627"/>
            <a:chOff x="0" y="0"/>
            <a:chExt cx="4379201" cy="384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9214" cy="3846195"/>
            </a:xfrm>
            <a:custGeom>
              <a:avLst/>
              <a:gdLst/>
              <a:ahLst/>
              <a:cxnLst/>
              <a:rect l="l" t="t" r="r" b="b"/>
              <a:pathLst>
                <a:path w="4379214" h="3846195">
                  <a:moveTo>
                    <a:pt x="0" y="0"/>
                  </a:moveTo>
                  <a:lnTo>
                    <a:pt x="4379214" y="0"/>
                  </a:lnTo>
                  <a:lnTo>
                    <a:pt x="4379214" y="3846195"/>
                  </a:lnTo>
                  <a:lnTo>
                    <a:pt x="0" y="384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" b="-1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492200" y="893331"/>
            <a:ext cx="9303601" cy="5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400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Your Solution (Product/Service/Offering)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62551" y="2418340"/>
            <a:ext cx="12276706" cy="498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5"/>
              </a:lnSpc>
            </a:pPr>
            <a:r>
              <a:rPr lang="en-US" sz="32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What is the proposed solution you plan to offer? What is novel?</a:t>
            </a:r>
          </a:p>
          <a:p>
            <a:pPr algn="l">
              <a:lnSpc>
                <a:spcPts val="2351"/>
              </a:lnSpc>
            </a:pPr>
            <a:endParaRPr lang="en-US" sz="320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4031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2351"/>
              </a:lnSpc>
            </a:pPr>
            <a:endParaRPr lang="en-US" sz="2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does your solution meet the customers’ needs better than existing solutions?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is the value proposition of your solution for your customers? 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specific results do users get by using your solution?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Feasibility of your solution? 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is novel in your solution (tech, customer experience, business model, etc)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4" b="-24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C180C-07A9-005B-BBAA-92BB2F52F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6A44CE9-A647-B840-7698-C1FC0042C18A}"/>
              </a:ext>
            </a:extLst>
          </p:cNvPr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B264D95-D3E7-2416-3AAC-C3378262E6ED}"/>
                </a:ext>
              </a:extLst>
            </p:cNvPr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9793D11-2384-4D34-BBAA-E6D2607FC963}"/>
              </a:ext>
            </a:extLst>
          </p:cNvPr>
          <p:cNvGrpSpPr/>
          <p:nvPr/>
        </p:nvGrpSpPr>
        <p:grpSpPr>
          <a:xfrm rot="10733460">
            <a:off x="-1227087" y="-1117644"/>
            <a:ext cx="3284401" cy="2884627"/>
            <a:chOff x="0" y="0"/>
            <a:chExt cx="4379201" cy="3846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31FDC74-055E-0358-9BD8-399D67A5AB45}"/>
                </a:ext>
              </a:extLst>
            </p:cNvPr>
            <p:cNvSpPr/>
            <p:nvPr/>
          </p:nvSpPr>
          <p:spPr>
            <a:xfrm>
              <a:off x="0" y="0"/>
              <a:ext cx="4379214" cy="3846195"/>
            </a:xfrm>
            <a:custGeom>
              <a:avLst/>
              <a:gdLst/>
              <a:ahLst/>
              <a:cxnLst/>
              <a:rect l="l" t="t" r="r" b="b"/>
              <a:pathLst>
                <a:path w="4379214" h="3846195">
                  <a:moveTo>
                    <a:pt x="0" y="0"/>
                  </a:moveTo>
                  <a:lnTo>
                    <a:pt x="4379214" y="0"/>
                  </a:lnTo>
                  <a:lnTo>
                    <a:pt x="4379214" y="3846195"/>
                  </a:lnTo>
                  <a:lnTo>
                    <a:pt x="0" y="384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" b="-16"/>
              </a:stretch>
            </a:blip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82447E50-65A1-1DF2-D836-785BA61AAA1E}"/>
              </a:ext>
            </a:extLst>
          </p:cNvPr>
          <p:cNvSpPr txBox="1"/>
          <p:nvPr/>
        </p:nvSpPr>
        <p:spPr>
          <a:xfrm>
            <a:off x="4492200" y="893331"/>
            <a:ext cx="9303601" cy="5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400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Your Solution (Product/Service/Offering)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4702013F-3A0B-B2E0-3A97-B9FFB5539A91}"/>
              </a:ext>
            </a:extLst>
          </p:cNvPr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7F573F9-169D-6DCD-2033-D9E4F25F27D5}"/>
                </a:ext>
              </a:extLst>
            </p:cNvPr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4" b="-245"/>
              </a:stretch>
            </a:blipFill>
          </p:spPr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67442948-0095-E694-82D6-4E42DA91F0FA}"/>
              </a:ext>
            </a:extLst>
          </p:cNvPr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5862EC-153B-A5E5-0F40-7954047CB55C}"/>
              </a:ext>
            </a:extLst>
          </p:cNvPr>
          <p:cNvSpPr/>
          <p:nvPr/>
        </p:nvSpPr>
        <p:spPr>
          <a:xfrm>
            <a:off x="381000" y="1943100"/>
            <a:ext cx="6629400" cy="16960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Input Layer </a:t>
            </a:r>
          </a:p>
          <a:p>
            <a:pPr algn="ctr"/>
            <a:r>
              <a:rPr lang="en-IN" sz="2400" dirty="0"/>
              <a:t> Text | Images | Audio | Video | URLs | Social Context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669D88-B30F-F793-CCF9-9FACF10380EB}"/>
              </a:ext>
            </a:extLst>
          </p:cNvPr>
          <p:cNvSpPr/>
          <p:nvPr/>
        </p:nvSpPr>
        <p:spPr>
          <a:xfrm>
            <a:off x="381000" y="4000500"/>
            <a:ext cx="6705600" cy="312564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Content Extraction &amp; Parsing │ │ • Video → Frames + Audio + Text (OCR/Subtitles) │ │ • Audio → Transcription + Voice Analysis │ │ • Images → Visual Content + Embedded Text │ │ • Text → NLP Processing + Metadata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3316DE-C2CF-C3D1-ACAE-6F53ACD405A6}"/>
              </a:ext>
            </a:extLst>
          </p:cNvPr>
          <p:cNvSpPr/>
          <p:nvPr/>
        </p:nvSpPr>
        <p:spPr>
          <a:xfrm>
            <a:off x="415108" y="7886700"/>
            <a:ext cx="6595292" cy="1506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Multi-Modal Analysis Pipeline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A536E5-328A-34D4-9B2F-927999027DA4}"/>
              </a:ext>
            </a:extLst>
          </p:cNvPr>
          <p:cNvSpPr/>
          <p:nvPr/>
        </p:nvSpPr>
        <p:spPr>
          <a:xfrm>
            <a:off x="9525000" y="1943100"/>
            <a:ext cx="8077200" cy="7543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Existing solutions:</a:t>
            </a:r>
          </a:p>
          <a:p>
            <a:pPr marL="457200" indent="-457200">
              <a:buAutoNum type="arabicPeriod"/>
            </a:pPr>
            <a:r>
              <a:rPr lang="en-IN" sz="2400" dirty="0"/>
              <a:t>Bel solution handles text and images separately https://bel-india.in/software/software-products/ai-enabled-fake-news-detector-product/</a:t>
            </a:r>
          </a:p>
          <a:p>
            <a:pPr marL="457200" indent="-457200">
              <a:buAutoNum type="arabicPeriod"/>
            </a:pPr>
            <a:r>
              <a:rPr lang="en-IN" sz="2400" dirty="0">
                <a:hlinkClick r:id="rId7"/>
              </a:rPr>
              <a:t>https://originality.ai/automated-fact-checker</a:t>
            </a:r>
            <a:r>
              <a:rPr lang="en-IN" sz="2400" dirty="0"/>
              <a:t> only text based</a:t>
            </a:r>
          </a:p>
          <a:p>
            <a:endParaRPr lang="en-IN" sz="2400" dirty="0"/>
          </a:p>
          <a:p>
            <a:r>
              <a:rPr lang="en-IN" sz="2400" dirty="0"/>
              <a:t>Value proposition: Multimodal analysis with fusion </a:t>
            </a:r>
          </a:p>
          <a:p>
            <a:endParaRPr lang="en-IN" sz="2400" dirty="0"/>
          </a:p>
          <a:p>
            <a:r>
              <a:rPr lang="en-IN" sz="2400" dirty="0"/>
              <a:t>Potential customers: Law enforcement, military, smart cities, intelligence agencies </a:t>
            </a:r>
          </a:p>
          <a:p>
            <a:endParaRPr lang="en-IN" sz="2400" dirty="0"/>
          </a:p>
          <a:p>
            <a:r>
              <a:rPr lang="en-IN" sz="2400" dirty="0"/>
              <a:t>Novelty: highlight text phrases, </a:t>
            </a:r>
            <a:r>
              <a:rPr lang="en-IN" sz="2400" dirty="0" err="1"/>
              <a:t>suspiscious</a:t>
            </a:r>
            <a:r>
              <a:rPr lang="en-IN" sz="2400" dirty="0"/>
              <a:t> image regions , audio anomaly visualization, inconsistencies in video </a:t>
            </a:r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51888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10733460">
            <a:off x="-1227087" y="-1117644"/>
            <a:ext cx="3284401" cy="2884627"/>
            <a:chOff x="0" y="0"/>
            <a:chExt cx="4379201" cy="384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9214" cy="3846195"/>
            </a:xfrm>
            <a:custGeom>
              <a:avLst/>
              <a:gdLst/>
              <a:ahLst/>
              <a:cxnLst/>
              <a:rect l="l" t="t" r="r" b="b"/>
              <a:pathLst>
                <a:path w="4379214" h="3846195">
                  <a:moveTo>
                    <a:pt x="0" y="0"/>
                  </a:moveTo>
                  <a:lnTo>
                    <a:pt x="4379214" y="0"/>
                  </a:lnTo>
                  <a:lnTo>
                    <a:pt x="4379214" y="3846195"/>
                  </a:lnTo>
                  <a:lnTo>
                    <a:pt x="0" y="384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" b="-1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492200" y="893331"/>
            <a:ext cx="9303601" cy="5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400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Market Opportunity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62551" y="2418340"/>
            <a:ext cx="12725590" cy="3953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5"/>
              </a:lnSpc>
            </a:pPr>
            <a:r>
              <a:rPr lang="en-US" sz="32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If your solution works, how big is the market opportunity</a:t>
            </a:r>
          </a:p>
          <a:p>
            <a:pPr algn="l">
              <a:lnSpc>
                <a:spcPts val="2351"/>
              </a:lnSpc>
            </a:pPr>
            <a:endParaRPr lang="en-US" sz="320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4031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2351"/>
              </a:lnSpc>
            </a:pPr>
            <a:endParaRPr lang="en-US" sz="2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Who is/are your customer(s)? Why is your solution ‘desirable’ to your target customers?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big is the market opportunity (Total Available Market/TAM, SAM, SOM, etc)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is now a good time to introduce your solution in the marketplace?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4" b="-24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C73EF-8406-A076-FC4B-0662FC130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65506D6-71B3-BC79-5AAB-829CA031D339}"/>
              </a:ext>
            </a:extLst>
          </p:cNvPr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37A49C-C5F2-54D0-8DDF-E51483F04B34}"/>
                </a:ext>
              </a:extLst>
            </p:cNvPr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1D3FB08-89DA-9C65-B0E5-3A3988F535EC}"/>
              </a:ext>
            </a:extLst>
          </p:cNvPr>
          <p:cNvGrpSpPr/>
          <p:nvPr/>
        </p:nvGrpSpPr>
        <p:grpSpPr>
          <a:xfrm rot="10733460">
            <a:off x="-1227087" y="-1117644"/>
            <a:ext cx="3284401" cy="2884627"/>
            <a:chOff x="0" y="0"/>
            <a:chExt cx="4379201" cy="3846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E89BFEF-0A8B-D68C-A64B-78C124427903}"/>
                </a:ext>
              </a:extLst>
            </p:cNvPr>
            <p:cNvSpPr/>
            <p:nvPr/>
          </p:nvSpPr>
          <p:spPr>
            <a:xfrm>
              <a:off x="0" y="0"/>
              <a:ext cx="4379214" cy="3846195"/>
            </a:xfrm>
            <a:custGeom>
              <a:avLst/>
              <a:gdLst/>
              <a:ahLst/>
              <a:cxnLst/>
              <a:rect l="l" t="t" r="r" b="b"/>
              <a:pathLst>
                <a:path w="4379214" h="3846195">
                  <a:moveTo>
                    <a:pt x="0" y="0"/>
                  </a:moveTo>
                  <a:lnTo>
                    <a:pt x="4379214" y="0"/>
                  </a:lnTo>
                  <a:lnTo>
                    <a:pt x="4379214" y="3846195"/>
                  </a:lnTo>
                  <a:lnTo>
                    <a:pt x="0" y="384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" b="-16"/>
              </a:stretch>
            </a:blip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F396577C-DEFC-F8A8-A43C-64C518CB0105}"/>
              </a:ext>
            </a:extLst>
          </p:cNvPr>
          <p:cNvSpPr txBox="1"/>
          <p:nvPr/>
        </p:nvSpPr>
        <p:spPr>
          <a:xfrm>
            <a:off x="4492200" y="893331"/>
            <a:ext cx="9303601" cy="5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400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Market Opportunity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4204124-D25A-7586-E2B7-42E0F4CC0E7A}"/>
              </a:ext>
            </a:extLst>
          </p:cNvPr>
          <p:cNvSpPr txBox="1"/>
          <p:nvPr/>
        </p:nvSpPr>
        <p:spPr>
          <a:xfrm>
            <a:off x="3262551" y="2418340"/>
            <a:ext cx="12725590" cy="3953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5"/>
              </a:lnSpc>
            </a:pPr>
            <a:r>
              <a:rPr lang="en-US" sz="32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If your solution works, how big is the market opportunity</a:t>
            </a:r>
          </a:p>
          <a:p>
            <a:pPr algn="l">
              <a:lnSpc>
                <a:spcPts val="2351"/>
              </a:lnSpc>
            </a:pPr>
            <a:endParaRPr lang="en-US" sz="320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4031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2351"/>
              </a:lnSpc>
            </a:pPr>
            <a:endParaRPr lang="en-US" sz="2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Who is/are your customer(s)? Why is your solution ‘desirable’ to your target customers?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big is the market opportunity (Total Available Market/TAM, SAM, SOM, etc)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is now a good time to introduce your solution in the marketplace?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D24B648F-95CF-14AC-7803-433186279EAD}"/>
              </a:ext>
            </a:extLst>
          </p:cNvPr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3B4FE31-1470-ABF2-0767-F0813F1B4AFB}"/>
                </a:ext>
              </a:extLst>
            </p:cNvPr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4" b="-245"/>
              </a:stretch>
            </a:blipFill>
          </p:spPr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65CA0548-0CE3-3195-3080-9E0EE5C6B9C6}"/>
              </a:ext>
            </a:extLst>
          </p:cNvPr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05922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10733460">
            <a:off x="-1227087" y="-1117644"/>
            <a:ext cx="3284401" cy="2884627"/>
            <a:chOff x="0" y="0"/>
            <a:chExt cx="4379201" cy="384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9214" cy="3846195"/>
            </a:xfrm>
            <a:custGeom>
              <a:avLst/>
              <a:gdLst/>
              <a:ahLst/>
              <a:cxnLst/>
              <a:rect l="l" t="t" r="r" b="b"/>
              <a:pathLst>
                <a:path w="4379214" h="3846195">
                  <a:moveTo>
                    <a:pt x="0" y="0"/>
                  </a:moveTo>
                  <a:lnTo>
                    <a:pt x="4379214" y="0"/>
                  </a:lnTo>
                  <a:lnTo>
                    <a:pt x="4379214" y="3846195"/>
                  </a:lnTo>
                  <a:lnTo>
                    <a:pt x="0" y="384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" b="-1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492200" y="893331"/>
            <a:ext cx="9303601" cy="5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400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Proposed Implementation Plan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62551" y="2418340"/>
            <a:ext cx="12276706" cy="5504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5"/>
              </a:lnSpc>
            </a:pPr>
            <a:r>
              <a:rPr lang="en-US" sz="3200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High-level plan for taking this forward</a:t>
            </a:r>
          </a:p>
          <a:p>
            <a:pPr algn="l">
              <a:lnSpc>
                <a:spcPts val="2351"/>
              </a:lnSpc>
            </a:pPr>
            <a:endParaRPr lang="en-US" sz="3200" dirty="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4031"/>
              </a:lnSpc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2351"/>
              </a:lnSpc>
            </a:pPr>
            <a:endParaRPr lang="en-US" sz="24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is ‘success’ for you/team with this idea by end of this semester? (objectives)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is the rough time if you start now to your end goal (first 18 months) – outline the key activities from ‘Customer Discovery’ method to test your startup idea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resources do you need for your startup?</a:t>
            </a:r>
          </a:p>
          <a:p>
            <a:pPr marL="615646" lvl="3" indent="-153912" algn="l">
              <a:lnSpc>
                <a:spcPts val="4031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will you/team work on this to make it successful?</a:t>
            </a:r>
          </a:p>
          <a:p>
            <a:pPr marL="359127" lvl="3" indent="-89782" algn="l">
              <a:lnSpc>
                <a:spcPts val="2351"/>
              </a:lnSpc>
            </a:pPr>
            <a:endParaRPr lang="en-US" sz="24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4" b="-24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58848" y="8466001"/>
            <a:ext cx="1829152" cy="4114800"/>
            <a:chOff x="0" y="0"/>
            <a:chExt cx="2438870" cy="548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908" cy="5486400"/>
            </a:xfrm>
            <a:custGeom>
              <a:avLst/>
              <a:gdLst/>
              <a:ahLst/>
              <a:cxnLst/>
              <a:rect l="l" t="t" r="r" b="b"/>
              <a:pathLst>
                <a:path w="2438908" h="5486400">
                  <a:moveTo>
                    <a:pt x="0" y="0"/>
                  </a:moveTo>
                  <a:lnTo>
                    <a:pt x="2438908" y="0"/>
                  </a:lnTo>
                  <a:lnTo>
                    <a:pt x="243890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10733460">
            <a:off x="-1227087" y="-1117644"/>
            <a:ext cx="3284401" cy="2884627"/>
            <a:chOff x="0" y="0"/>
            <a:chExt cx="4379201" cy="384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9214" cy="3846195"/>
            </a:xfrm>
            <a:custGeom>
              <a:avLst/>
              <a:gdLst/>
              <a:ahLst/>
              <a:cxnLst/>
              <a:rect l="l" t="t" r="r" b="b"/>
              <a:pathLst>
                <a:path w="4379214" h="3846195">
                  <a:moveTo>
                    <a:pt x="0" y="0"/>
                  </a:moveTo>
                  <a:lnTo>
                    <a:pt x="4379214" y="0"/>
                  </a:lnTo>
                  <a:lnTo>
                    <a:pt x="4379214" y="3846195"/>
                  </a:lnTo>
                  <a:lnTo>
                    <a:pt x="0" y="384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" b="-1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2084918" y="2799407"/>
            <a:ext cx="15054596" cy="104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4000">
                <a:solidFill>
                  <a:srgbClr val="604042"/>
                </a:solidFill>
                <a:latin typeface="Roboto"/>
                <a:ea typeface="Roboto"/>
                <a:cs typeface="Roboto"/>
                <a:sym typeface="Roboto"/>
              </a:rPr>
              <a:t>RESEARCH  AND REFERENCES</a:t>
            </a:r>
          </a:p>
          <a:p>
            <a:pPr algn="ctr">
              <a:lnSpc>
                <a:spcPts val="1561"/>
              </a:lnSpc>
            </a:pPr>
            <a:endParaRPr lang="en-US" sz="4000">
              <a:solidFill>
                <a:srgbClr val="6040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401101" y="5190192"/>
            <a:ext cx="11485797" cy="49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646" lvl="3" indent="-153912" algn="ctr">
              <a:lnSpc>
                <a:spcPts val="4031"/>
              </a:lnSpc>
              <a:buAutoNum type="arabicPeriod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Details / Links of the reference and research work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934628" y="175212"/>
            <a:ext cx="3203448" cy="975741"/>
            <a:chOff x="0" y="0"/>
            <a:chExt cx="4271264" cy="1300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1264" cy="1300988"/>
            </a:xfrm>
            <a:custGeom>
              <a:avLst/>
              <a:gdLst/>
              <a:ahLst/>
              <a:cxnLst/>
              <a:rect l="l" t="t" r="r" b="b"/>
              <a:pathLst>
                <a:path w="4271264" h="1300988">
                  <a:moveTo>
                    <a:pt x="0" y="0"/>
                  </a:moveTo>
                  <a:lnTo>
                    <a:pt x="4271264" y="0"/>
                  </a:lnTo>
                  <a:lnTo>
                    <a:pt x="4271264" y="1300988"/>
                  </a:lnTo>
                  <a:lnTo>
                    <a:pt x="0" y="13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4" b="-24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231895" y="213178"/>
            <a:ext cx="2059151" cy="937775"/>
          </a:xfrm>
          <a:custGeom>
            <a:avLst/>
            <a:gdLst/>
            <a:ahLst/>
            <a:cxnLst/>
            <a:rect l="l" t="t" r="r" b="b"/>
            <a:pathLst>
              <a:path w="2059151" h="937775">
                <a:moveTo>
                  <a:pt x="0" y="0"/>
                </a:moveTo>
                <a:lnTo>
                  <a:pt x="2059151" y="0"/>
                </a:lnTo>
                <a:lnTo>
                  <a:pt x="2059151" y="937775"/>
                </a:lnTo>
                <a:lnTo>
                  <a:pt x="0" y="93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1116</Words>
  <Application>Microsoft Office PowerPoint</Application>
  <PresentationFormat>Custom</PresentationFormat>
  <Paragraphs>174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Roboto</vt:lpstr>
      <vt:lpstr>Arial</vt:lpstr>
      <vt:lpstr>Roboto Bold</vt:lpstr>
      <vt:lpstr>Roboto Italics</vt:lpstr>
      <vt:lpstr>Arimo Bold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CIE_Ignite-S02_Phase1_Template.pptx</dc:title>
  <dc:creator>Vaishali Krishnan</dc:creator>
  <cp:lastModifiedBy>Vaishali Krishnan</cp:lastModifiedBy>
  <cp:revision>2</cp:revision>
  <dcterms:created xsi:type="dcterms:W3CDTF">2006-08-16T00:00:00Z</dcterms:created>
  <dcterms:modified xsi:type="dcterms:W3CDTF">2026-01-24T06:29:52Z</dcterms:modified>
  <dc:identifier>DAG-jeJo2Zo</dc:identifier>
</cp:coreProperties>
</file>