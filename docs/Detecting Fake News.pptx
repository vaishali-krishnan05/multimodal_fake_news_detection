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Liter" charset="-122" pitchFamily="34"/>
      <p:regular r:id="rId22"/>
    </p:embeddedFon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echcrunch.com/f6f984e27fcdbccaf69a0e31f66ed88941bf720f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87078"/>
            <a:ext cx="2695575" cy="419100"/>
          </a:xfrm>
          <a:custGeom>
            <a:avLst/>
            <a:gdLst/>
            <a:ahLst/>
            <a:cxnLst/>
            <a:rect l="l" t="t" r="r" b="b"/>
            <a:pathLst>
              <a:path w="2695575" h="419100">
                <a:moveTo>
                  <a:pt x="0" y="0"/>
                </a:moveTo>
                <a:lnTo>
                  <a:pt x="2695575" y="0"/>
                </a:lnTo>
                <a:lnTo>
                  <a:pt x="26955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87078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63278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GUIDE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34778"/>
            <a:ext cx="899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Detecting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News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683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Identification, Detection, and Prevention in the Digital Age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137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51470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5108972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56656" y="50137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3" name="Shape 10"/>
          <p:cNvSpPr/>
          <p:nvPr/>
        </p:nvSpPr>
        <p:spPr>
          <a:xfrm>
            <a:off x="2190006" y="51470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1"/>
          <p:cNvSpPr/>
          <p:nvPr/>
        </p:nvSpPr>
        <p:spPr>
          <a:xfrm>
            <a:off x="2628156" y="5108972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09231" y="50137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6" name="Shape 13"/>
          <p:cNvSpPr/>
          <p:nvPr/>
        </p:nvSpPr>
        <p:spPr>
          <a:xfrm>
            <a:off x="3730675" y="514707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4"/>
          <p:cNvSpPr/>
          <p:nvPr/>
        </p:nvSpPr>
        <p:spPr>
          <a:xfrm>
            <a:off x="4180731" y="5108972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524000"/>
            <a:ext cx="11410950" cy="866775"/>
          </a:xfrm>
          <a:custGeom>
            <a:avLst/>
            <a:gdLst/>
            <a:ahLst/>
            <a:cxnLst/>
            <a:rect l="l" t="t" r="r" b="b"/>
            <a:pathLst>
              <a:path w="11410950" h="866775">
                <a:moveTo>
                  <a:pt x="0" y="0"/>
                </a:moveTo>
                <a:lnTo>
                  <a:pt x="11410950" y="0"/>
                </a:lnTo>
                <a:lnTo>
                  <a:pt x="114109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534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Text 5"/>
          <p:cNvSpPr/>
          <p:nvPr/>
        </p:nvSpPr>
        <p:spPr>
          <a:xfrm>
            <a:off x="804118" y="178683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5900" y="1672530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5900" y="2015430"/>
            <a:ext cx="1009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fake news and the modern information crisis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544961"/>
            <a:ext cx="11410950" cy="866775"/>
          </a:xfrm>
          <a:custGeom>
            <a:avLst/>
            <a:gdLst/>
            <a:ahLst/>
            <a:cxnLst/>
            <a:rect l="l" t="t" r="r" b="b"/>
            <a:pathLst>
              <a:path w="11410950" h="866775">
                <a:moveTo>
                  <a:pt x="0" y="0"/>
                </a:moveTo>
                <a:lnTo>
                  <a:pt x="11410950" y="0"/>
                </a:lnTo>
                <a:lnTo>
                  <a:pt x="114109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544961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" y="26744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78222" y="280779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5900" y="2693491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Misinformation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5900" y="3036391"/>
            <a:ext cx="1009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Categorizing deceptive content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566071"/>
            <a:ext cx="11410950" cy="866775"/>
          </a:xfrm>
          <a:custGeom>
            <a:avLst/>
            <a:gdLst/>
            <a:ahLst/>
            <a:cxnLst/>
            <a:rect l="l" t="t" r="r" b="b"/>
            <a:pathLst>
              <a:path w="11410950" h="866775">
                <a:moveTo>
                  <a:pt x="0" y="0"/>
                </a:moveTo>
                <a:lnTo>
                  <a:pt x="11410950" y="0"/>
                </a:lnTo>
                <a:lnTo>
                  <a:pt x="114109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566071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6955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032" y="382890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5900" y="3714601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5900" y="4057501"/>
            <a:ext cx="1009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consequences of misinformation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587180"/>
            <a:ext cx="11410950" cy="866775"/>
          </a:xfrm>
          <a:custGeom>
            <a:avLst/>
            <a:gdLst/>
            <a:ahLst/>
            <a:cxnLst/>
            <a:rect l="l" t="t" r="r" b="b"/>
            <a:pathLst>
              <a:path w="11410950" h="866775">
                <a:moveTo>
                  <a:pt x="0" y="0"/>
                </a:moveTo>
                <a:lnTo>
                  <a:pt x="11410950" y="0"/>
                </a:lnTo>
                <a:lnTo>
                  <a:pt x="114109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458718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" y="471666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180" y="485001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5900" y="4735711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Methods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85900" y="5078611"/>
            <a:ext cx="1009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Technological and analytical approaches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5608290"/>
            <a:ext cx="11410950" cy="866775"/>
          </a:xfrm>
          <a:custGeom>
            <a:avLst/>
            <a:gdLst/>
            <a:ahLst/>
            <a:cxnLst/>
            <a:rect l="l" t="t" r="r" b="b"/>
            <a:pathLst>
              <a:path w="11410950" h="866775">
                <a:moveTo>
                  <a:pt x="0" y="0"/>
                </a:moveTo>
                <a:lnTo>
                  <a:pt x="11410950" y="0"/>
                </a:lnTo>
                <a:lnTo>
                  <a:pt x="114109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560829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573777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1" name="Text 29"/>
          <p:cNvSpPr/>
          <p:nvPr/>
        </p:nvSpPr>
        <p:spPr>
          <a:xfrm>
            <a:off x="778966" y="587112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85900" y="5756821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Strategies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85900" y="6099721"/>
            <a:ext cx="1009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resilience against misinformation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epr.org/05a1cc3d8d0b77e0595d3ccaae62e7f28ec09b1a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76363"/>
            <a:ext cx="1752600" cy="419100"/>
          </a:xfrm>
          <a:custGeom>
            <a:avLst/>
            <a:gdLst/>
            <a:ahLst/>
            <a:cxnLst/>
            <a:rect l="l" t="t" r="r" b="b"/>
            <a:pathLst>
              <a:path w="1752600" h="419100">
                <a:moveTo>
                  <a:pt x="0" y="0"/>
                </a:moveTo>
                <a:lnTo>
                  <a:pt x="1752600" y="0"/>
                </a:lnTo>
                <a:lnTo>
                  <a:pt x="17526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7636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52563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2406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87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706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1101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fake news and the modern information crisis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Fake News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6181725" cy="2457450"/>
          </a:xfrm>
          <a:custGeom>
            <a:avLst/>
            <a:gdLst/>
            <a:ahLst/>
            <a:cxnLst/>
            <a:rect l="l" t="t" r="r" b="b"/>
            <a:pathLst>
              <a:path w="6181725" h="2457450">
                <a:moveTo>
                  <a:pt x="0" y="0"/>
                </a:moveTo>
                <a:lnTo>
                  <a:pt x="6181725" y="0"/>
                </a:lnTo>
                <a:lnTo>
                  <a:pt x="6181725" y="2457450"/>
                </a:lnTo>
                <a:lnTo>
                  <a:pt x="0" y="245745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457450"/>
          </a:xfrm>
          <a:custGeom>
            <a:avLst/>
            <a:gdLst/>
            <a:ahLst/>
            <a:cxnLst/>
            <a:rect l="l" t="t" r="r" b="b"/>
            <a:pathLst>
              <a:path w="38100" h="2457450">
                <a:moveTo>
                  <a:pt x="0" y="0"/>
                </a:moveTo>
                <a:lnTo>
                  <a:pt x="38100" y="0"/>
                </a:lnTo>
                <a:lnTo>
                  <a:pt x="38100" y="2457450"/>
                </a:lnTo>
                <a:lnTo>
                  <a:pt x="0" y="245745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6" name="Shape 4"/>
          <p:cNvSpPr/>
          <p:nvPr/>
        </p:nvSpPr>
        <p:spPr>
          <a:xfrm>
            <a:off x="595313" y="1409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7" name="Text 5"/>
          <p:cNvSpPr/>
          <p:nvPr/>
        </p:nvSpPr>
        <p:spPr>
          <a:xfrm>
            <a:off x="809625" y="13716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Constitutes Fake News?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752600"/>
            <a:ext cx="5934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news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encompasses deliberately false or misleading information designed to deceive readers, often for political, financial, or ideological gain. It mimics legitimate journalism but lacks factual basis and credible verification.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609850"/>
            <a:ext cx="1876425" cy="914400"/>
          </a:xfrm>
          <a:custGeom>
            <a:avLst/>
            <a:gdLst/>
            <a:ahLst/>
            <a:cxnLst/>
            <a:rect l="l" t="t" r="r" b="b"/>
            <a:pathLst>
              <a:path w="1876425" h="914400">
                <a:moveTo>
                  <a:pt x="38103" y="0"/>
                </a:moveTo>
                <a:lnTo>
                  <a:pt x="1838322" y="0"/>
                </a:lnTo>
                <a:cubicBezTo>
                  <a:pt x="1859366" y="0"/>
                  <a:pt x="1876425" y="17059"/>
                  <a:pt x="1876425" y="38103"/>
                </a:cubicBezTo>
                <a:lnTo>
                  <a:pt x="1876425" y="876297"/>
                </a:lnTo>
                <a:cubicBezTo>
                  <a:pt x="1876425" y="897341"/>
                  <a:pt x="1859366" y="914400"/>
                  <a:pt x="18383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241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52750"/>
            <a:ext cx="172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info spread without harmful intent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2820" y="2609850"/>
            <a:ext cx="1876425" cy="914400"/>
          </a:xfrm>
          <a:custGeom>
            <a:avLst/>
            <a:gdLst/>
            <a:ahLst/>
            <a:cxnLst/>
            <a:rect l="l" t="t" r="r" b="b"/>
            <a:pathLst>
              <a:path w="1876425" h="914400">
                <a:moveTo>
                  <a:pt x="38103" y="0"/>
                </a:moveTo>
                <a:lnTo>
                  <a:pt x="1838322" y="0"/>
                </a:lnTo>
                <a:cubicBezTo>
                  <a:pt x="1859366" y="0"/>
                  <a:pt x="1876425" y="17059"/>
                  <a:pt x="1876425" y="38103"/>
                </a:cubicBezTo>
                <a:lnTo>
                  <a:pt x="1876425" y="876297"/>
                </a:lnTo>
                <a:cubicBezTo>
                  <a:pt x="1876425" y="897341"/>
                  <a:pt x="1859366" y="914400"/>
                  <a:pt x="18383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77120" y="27241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Disinformation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77120" y="2952750"/>
            <a:ext cx="172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info created to cause harm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54141" y="2609850"/>
            <a:ext cx="1876425" cy="914400"/>
          </a:xfrm>
          <a:custGeom>
            <a:avLst/>
            <a:gdLst/>
            <a:ahLst/>
            <a:cxnLst/>
            <a:rect l="l" t="t" r="r" b="b"/>
            <a:pathLst>
              <a:path w="1876425" h="914400">
                <a:moveTo>
                  <a:pt x="38103" y="0"/>
                </a:moveTo>
                <a:lnTo>
                  <a:pt x="1838322" y="0"/>
                </a:lnTo>
                <a:cubicBezTo>
                  <a:pt x="1859366" y="0"/>
                  <a:pt x="1876425" y="17059"/>
                  <a:pt x="1876425" y="38103"/>
                </a:cubicBezTo>
                <a:lnTo>
                  <a:pt x="1876425" y="876297"/>
                </a:lnTo>
                <a:cubicBezTo>
                  <a:pt x="1876425" y="897341"/>
                  <a:pt x="1859366" y="914400"/>
                  <a:pt x="18383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68441" y="27241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Malinformation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8441" y="2952750"/>
            <a:ext cx="172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info used to inflict harm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829050"/>
            <a:ext cx="6181725" cy="2095500"/>
          </a:xfrm>
          <a:custGeom>
            <a:avLst/>
            <a:gdLst/>
            <a:ahLst/>
            <a:cxnLst/>
            <a:rect l="l" t="t" r="r" b="b"/>
            <a:pathLst>
              <a:path w="6181725" h="2095500">
                <a:moveTo>
                  <a:pt x="0" y="0"/>
                </a:moveTo>
                <a:lnTo>
                  <a:pt x="6181725" y="0"/>
                </a:lnTo>
                <a:lnTo>
                  <a:pt x="6181725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8290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5313" y="4019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1" name="Text 19"/>
          <p:cNvSpPr/>
          <p:nvPr/>
        </p:nvSpPr>
        <p:spPr>
          <a:xfrm>
            <a:off x="809625" y="398145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Scope of the Crisis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362450"/>
            <a:ext cx="542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2896" y="44767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Spread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4781550"/>
            <a:ext cx="2933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news spreads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times faster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 real news on social media platforms, reaching 1,500 people 6x quicker than legitimate stories.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77530" y="4362450"/>
            <a:ext cx="85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38638" y="447675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Exposure Rate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77530" y="4781550"/>
            <a:ext cx="2933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83% of adults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developed nations report regularly encountering fake news online.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40872" y="1223963"/>
            <a:ext cx="5067300" cy="3724275"/>
          </a:xfrm>
          <a:custGeom>
            <a:avLst/>
            <a:gdLst/>
            <a:ahLst/>
            <a:cxnLst/>
            <a:rect l="l" t="t" r="r" b="b"/>
            <a:pathLst>
              <a:path w="5067300" h="3724275">
                <a:moveTo>
                  <a:pt x="0" y="0"/>
                </a:moveTo>
                <a:lnTo>
                  <a:pt x="5067300" y="0"/>
                </a:lnTo>
                <a:lnTo>
                  <a:pt x="5067300" y="3724275"/>
                </a:lnTo>
                <a:lnTo>
                  <a:pt x="0" y="3724275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 w="12700">
            <a:solidFill>
              <a:srgbClr val="5D6C79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21847" y="14287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8588" y="64294"/>
                </a:moveTo>
                <a:cubicBezTo>
                  <a:pt x="146335" y="64294"/>
                  <a:pt x="160734" y="49895"/>
                  <a:pt x="160734" y="32147"/>
                </a:cubicBezTo>
                <a:cubicBezTo>
                  <a:pt x="160734" y="14399"/>
                  <a:pt x="146335" y="0"/>
                  <a:pt x="128588" y="0"/>
                </a:cubicBezTo>
                <a:cubicBezTo>
                  <a:pt x="110840" y="0"/>
                  <a:pt x="96441" y="14399"/>
                  <a:pt x="96441" y="32147"/>
                </a:cubicBezTo>
                <a:cubicBezTo>
                  <a:pt x="96441" y="33955"/>
                  <a:pt x="96608" y="35763"/>
                  <a:pt x="96876" y="37505"/>
                </a:cubicBezTo>
                <a:lnTo>
                  <a:pt x="53444" y="61648"/>
                </a:lnTo>
                <a:cubicBezTo>
                  <a:pt x="47785" y="56625"/>
                  <a:pt x="40318" y="53578"/>
                  <a:pt x="32147" y="53578"/>
                </a:cubicBezTo>
                <a:cubicBezTo>
                  <a:pt x="14399" y="53578"/>
                  <a:pt x="0" y="67977"/>
                  <a:pt x="0" y="85725"/>
                </a:cubicBezTo>
                <a:cubicBezTo>
                  <a:pt x="0" y="103473"/>
                  <a:pt x="14399" y="117872"/>
                  <a:pt x="32147" y="117872"/>
                </a:cubicBezTo>
                <a:cubicBezTo>
                  <a:pt x="40318" y="117872"/>
                  <a:pt x="47752" y="114825"/>
                  <a:pt x="53444" y="109802"/>
                </a:cubicBezTo>
                <a:lnTo>
                  <a:pt x="96876" y="133945"/>
                </a:lnTo>
                <a:cubicBezTo>
                  <a:pt x="96575" y="135687"/>
                  <a:pt x="96441" y="137461"/>
                  <a:pt x="96441" y="139303"/>
                </a:cubicBezTo>
                <a:cubicBezTo>
                  <a:pt x="96441" y="157051"/>
                  <a:pt x="110840" y="171450"/>
                  <a:pt x="128588" y="171450"/>
                </a:cubicBezTo>
                <a:cubicBezTo>
                  <a:pt x="146335" y="171450"/>
                  <a:pt x="160734" y="157051"/>
                  <a:pt x="160734" y="139303"/>
                </a:cubicBezTo>
                <a:cubicBezTo>
                  <a:pt x="160734" y="121555"/>
                  <a:pt x="146335" y="107156"/>
                  <a:pt x="128588" y="107156"/>
                </a:cubicBezTo>
                <a:cubicBezTo>
                  <a:pt x="120417" y="107156"/>
                  <a:pt x="112983" y="110204"/>
                  <a:pt x="107290" y="115226"/>
                </a:cubicBezTo>
                <a:lnTo>
                  <a:pt x="63858" y="91083"/>
                </a:lnTo>
                <a:cubicBezTo>
                  <a:pt x="64160" y="89342"/>
                  <a:pt x="64294" y="87567"/>
                  <a:pt x="64294" y="85725"/>
                </a:cubicBezTo>
                <a:cubicBezTo>
                  <a:pt x="64294" y="83883"/>
                  <a:pt x="64126" y="82108"/>
                  <a:pt x="63858" y="80367"/>
                </a:cubicBezTo>
                <a:lnTo>
                  <a:pt x="107290" y="56224"/>
                </a:lnTo>
                <a:cubicBezTo>
                  <a:pt x="112949" y="61246"/>
                  <a:pt x="120417" y="64294"/>
                  <a:pt x="128588" y="64294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0" name="Text 28"/>
          <p:cNvSpPr/>
          <p:nvPr/>
        </p:nvSpPr>
        <p:spPr>
          <a:xfrm>
            <a:off x="7117110" y="1381125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Distribution Channels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98035" y="1800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05191" y="1905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38375"/>
                  <a:pt x="133075" y="0"/>
                  <a:pt x="85725" y="0"/>
                </a:cubicBezTo>
                <a:cubicBezTo>
                  <a:pt x="38375" y="0"/>
                  <a:pt x="0" y="38375"/>
                  <a:pt x="0" y="85725"/>
                </a:cubicBezTo>
                <a:cubicBezTo>
                  <a:pt x="0" y="125909"/>
                  <a:pt x="27693" y="159663"/>
                  <a:pt x="65030" y="168939"/>
                </a:cubicBezTo>
                <a:lnTo>
                  <a:pt x="65030" y="111911"/>
                </a:lnTo>
                <a:lnTo>
                  <a:pt x="47350" y="111911"/>
                </a:lnTo>
                <a:lnTo>
                  <a:pt x="47350" y="85725"/>
                </a:lnTo>
                <a:lnTo>
                  <a:pt x="65030" y="85725"/>
                </a:lnTo>
                <a:lnTo>
                  <a:pt x="65030" y="74440"/>
                </a:lnTo>
                <a:cubicBezTo>
                  <a:pt x="65030" y="45274"/>
                  <a:pt x="78224" y="31745"/>
                  <a:pt x="106888" y="31745"/>
                </a:cubicBezTo>
                <a:cubicBezTo>
                  <a:pt x="112313" y="31745"/>
                  <a:pt x="121689" y="32817"/>
                  <a:pt x="125540" y="33888"/>
                </a:cubicBezTo>
                <a:lnTo>
                  <a:pt x="125540" y="57596"/>
                </a:lnTo>
                <a:cubicBezTo>
                  <a:pt x="123531" y="57396"/>
                  <a:pt x="120015" y="57262"/>
                  <a:pt x="115628" y="57262"/>
                </a:cubicBezTo>
                <a:cubicBezTo>
                  <a:pt x="101564" y="57262"/>
                  <a:pt x="96139" y="62586"/>
                  <a:pt x="96139" y="76416"/>
                </a:cubicBezTo>
                <a:lnTo>
                  <a:pt x="96139" y="85725"/>
                </a:lnTo>
                <a:lnTo>
                  <a:pt x="124134" y="85725"/>
                </a:lnTo>
                <a:lnTo>
                  <a:pt x="119312" y="111911"/>
                </a:lnTo>
                <a:lnTo>
                  <a:pt x="96106" y="111911"/>
                </a:lnTo>
                <a:lnTo>
                  <a:pt x="96106" y="170814"/>
                </a:lnTo>
                <a:cubicBezTo>
                  <a:pt x="138566" y="165690"/>
                  <a:pt x="171450" y="129559"/>
                  <a:pt x="171450" y="857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7393335" y="1762125"/>
            <a:ext cx="433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Platforms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93335" y="2028825"/>
            <a:ext cx="4333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Facebook, Twitter/X, and Instagram enable rapid viral sharing through algorithmic amplification and echo chambers.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98035" y="2600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6" name="Shape 34"/>
          <p:cNvSpPr/>
          <p:nvPr/>
        </p:nvSpPr>
        <p:spPr>
          <a:xfrm>
            <a:off x="6983760" y="27051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7393335" y="2562225"/>
            <a:ext cx="433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Messaging Apps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93335" y="2828925"/>
            <a:ext cx="4333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WhatsApp, Telegram, and WeChat facilitate private group sharing, making fact-checking difficult.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98035" y="3400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0" name="Shape 38"/>
          <p:cNvSpPr/>
          <p:nvPr/>
        </p:nvSpPr>
        <p:spPr>
          <a:xfrm>
            <a:off x="7005191" y="3505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7393335" y="3362325"/>
            <a:ext cx="433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News Websites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93335" y="3629025"/>
            <a:ext cx="4333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to mimic legitimate outlets with deceptive URLs and professional layouts.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40872" y="5110163"/>
            <a:ext cx="5067300" cy="1362075"/>
          </a:xfrm>
          <a:custGeom>
            <a:avLst/>
            <a:gdLst/>
            <a:ahLst/>
            <a:cxnLst/>
            <a:rect l="l" t="t" r="r" b="b"/>
            <a:pathLst>
              <a:path w="5067300" h="1362075">
                <a:moveTo>
                  <a:pt x="0" y="0"/>
                </a:moveTo>
                <a:lnTo>
                  <a:pt x="5067300" y="0"/>
                </a:lnTo>
                <a:lnTo>
                  <a:pt x="5067300" y="1362075"/>
                </a:lnTo>
                <a:lnTo>
                  <a:pt x="0" y="1362075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 w="12700">
            <a:solidFill>
              <a:srgbClr val="E59F54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6610" y="5305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5" name="Text 43"/>
          <p:cNvSpPr/>
          <p:nvPr/>
        </p:nvSpPr>
        <p:spPr>
          <a:xfrm>
            <a:off x="7298085" y="5267325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98085" y="5572125"/>
            <a:ext cx="4429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democratization of information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created a parallel democratization of deception. Understanding this ecosystem is the first step toward building effective detection capabilities.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journalistsresource.org/388e2ce7986c682ecbe04976e7e503c247e04c5d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3125" b="31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76363"/>
            <a:ext cx="1790700" cy="419100"/>
          </a:xfrm>
          <a:custGeom>
            <a:avLst/>
            <a:gdLst/>
            <a:ahLst/>
            <a:cxnLst/>
            <a:rect l="l" t="t" r="r" b="b"/>
            <a:pathLst>
              <a:path w="1790700" h="419100">
                <a:moveTo>
                  <a:pt x="0" y="0"/>
                </a:moveTo>
                <a:lnTo>
                  <a:pt x="1790700" y="0"/>
                </a:lnTo>
                <a:lnTo>
                  <a:pt x="17907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7636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52563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2406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87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706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1101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Categorizing deceptive content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MISINFORMATION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Misinformation Spectrum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Seven fundamental types of deceptive content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3714750" cy="1371600"/>
          </a:xfrm>
          <a:custGeom>
            <a:avLst/>
            <a:gdLst/>
            <a:ahLst/>
            <a:cxnLst/>
            <a:rect l="l" t="t" r="r" b="b"/>
            <a:pathLst>
              <a:path w="3714750" h="1371600">
                <a:moveTo>
                  <a:pt x="0" y="0"/>
                </a:moveTo>
                <a:lnTo>
                  <a:pt x="3714750" y="0"/>
                </a:lnTo>
                <a:lnTo>
                  <a:pt x="37147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Text 6"/>
          <p:cNvSpPr/>
          <p:nvPr/>
        </p:nvSpPr>
        <p:spPr>
          <a:xfrm>
            <a:off x="624929" y="18097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" y="18097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Satire or Parody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20980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with no intention to cause harm but can fool readers, using humor or exaggeration to critique.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8150" y="1524000"/>
            <a:ext cx="3714750" cy="1371600"/>
          </a:xfrm>
          <a:custGeom>
            <a:avLst/>
            <a:gdLst/>
            <a:ahLst/>
            <a:cxnLst/>
            <a:rect l="l" t="t" r="r" b="b"/>
            <a:pathLst>
              <a:path w="3714750" h="1371600">
                <a:moveTo>
                  <a:pt x="0" y="0"/>
                </a:moveTo>
                <a:lnTo>
                  <a:pt x="3714750" y="0"/>
                </a:lnTo>
                <a:lnTo>
                  <a:pt x="37147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48150" y="15240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1500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4" name="Text 12"/>
          <p:cNvSpPr/>
          <p:nvPr/>
        </p:nvSpPr>
        <p:spPr>
          <a:xfrm>
            <a:off x="4455765" y="18097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6800" y="180975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Connection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1500" y="220980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Headlines, visuals, or captions don't support the content, creating misleading associations.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6250" y="1524000"/>
            <a:ext cx="3714750" cy="1371600"/>
          </a:xfrm>
          <a:custGeom>
            <a:avLst/>
            <a:gdLst/>
            <a:ahLst/>
            <a:cxnLst/>
            <a:rect l="l" t="t" r="r" b="b"/>
            <a:pathLst>
              <a:path w="3714750" h="1371600">
                <a:moveTo>
                  <a:pt x="0" y="0"/>
                </a:moveTo>
                <a:lnTo>
                  <a:pt x="3714750" y="0"/>
                </a:lnTo>
                <a:lnTo>
                  <a:pt x="37147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096250" y="15240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0" name="Text 18"/>
          <p:cNvSpPr/>
          <p:nvPr/>
        </p:nvSpPr>
        <p:spPr>
          <a:xfrm>
            <a:off x="8303121" y="16954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24900" y="169545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Misleading Content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20955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information framed misleadingly through selective quotes, manipulated statistics, or visual misrepresentation.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009900"/>
            <a:ext cx="3714750" cy="1371600"/>
          </a:xfrm>
          <a:custGeom>
            <a:avLst/>
            <a:gdLst/>
            <a:ahLst/>
            <a:cxnLst/>
            <a:rect l="l" t="t" r="r" b="b"/>
            <a:pathLst>
              <a:path w="3714750" h="1371600">
                <a:moveTo>
                  <a:pt x="0" y="0"/>
                </a:moveTo>
                <a:lnTo>
                  <a:pt x="3714750" y="0"/>
                </a:lnTo>
                <a:lnTo>
                  <a:pt x="37147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30099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340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6" name="Text 24"/>
          <p:cNvSpPr/>
          <p:nvPr/>
        </p:nvSpPr>
        <p:spPr>
          <a:xfrm>
            <a:off x="606921" y="31813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700" y="318135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Context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400" y="3581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content shared with false contextual information like incorrect dates, locations, or event framing.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8150" y="3009900"/>
            <a:ext cx="3714750" cy="1371600"/>
          </a:xfrm>
          <a:custGeom>
            <a:avLst/>
            <a:gdLst/>
            <a:ahLst/>
            <a:cxnLst/>
            <a:rect l="l" t="t" r="r" b="b"/>
            <a:pathLst>
              <a:path w="3714750" h="1371600">
                <a:moveTo>
                  <a:pt x="0" y="0"/>
                </a:moveTo>
                <a:lnTo>
                  <a:pt x="3714750" y="0"/>
                </a:lnTo>
                <a:lnTo>
                  <a:pt x="37147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48150" y="30099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8150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2" name="Text 30"/>
          <p:cNvSpPr/>
          <p:nvPr/>
        </p:nvSpPr>
        <p:spPr>
          <a:xfrm>
            <a:off x="4456361" y="31813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76800" y="318135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Imposter Content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81500" y="3581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Impersonates genuine sources, using familiar branding or names to deceive. Check URLs for discrepancies.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96250" y="3009900"/>
            <a:ext cx="3714750" cy="1371600"/>
          </a:xfrm>
          <a:custGeom>
            <a:avLst/>
            <a:gdLst/>
            <a:ahLst/>
            <a:cxnLst/>
            <a:rect l="l" t="t" r="r" b="b"/>
            <a:pathLst>
              <a:path w="3714750" h="1371600">
                <a:moveTo>
                  <a:pt x="0" y="0"/>
                </a:moveTo>
                <a:lnTo>
                  <a:pt x="3714750" y="0"/>
                </a:lnTo>
                <a:lnTo>
                  <a:pt x="37147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96250" y="30099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228" y="31813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24900" y="31813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Manipulated Content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0" y="3581400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content altered via Photoshop, deepfakes, or editing to change meaning or create false impressions.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495800"/>
            <a:ext cx="11410950" cy="1371600"/>
          </a:xfrm>
          <a:custGeom>
            <a:avLst/>
            <a:gdLst/>
            <a:ahLst/>
            <a:cxnLst/>
            <a:rect l="l" t="t" r="r" b="b"/>
            <a:pathLst>
              <a:path w="11410950" h="1371600">
                <a:moveTo>
                  <a:pt x="0" y="0"/>
                </a:moveTo>
                <a:lnTo>
                  <a:pt x="11410950" y="0"/>
                </a:lnTo>
                <a:lnTo>
                  <a:pt x="114109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44958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" y="4991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4" name="Text 42"/>
          <p:cNvSpPr/>
          <p:nvPr/>
        </p:nvSpPr>
        <p:spPr>
          <a:xfrm>
            <a:off x="614363" y="50482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6800" y="4914900"/>
            <a:ext cx="1072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Fabricated Content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6800" y="5219700"/>
            <a:ext cx="1070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that is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false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designed to deceive and do harm. Completely invented events, quotes, and evidence.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5986463"/>
            <a:ext cx="11420475" cy="695325"/>
          </a:xfrm>
          <a:custGeom>
            <a:avLst/>
            <a:gdLst/>
            <a:ahLst/>
            <a:cxnLst/>
            <a:rect l="l" t="t" r="r" b="b"/>
            <a:pathLst>
              <a:path w="11420475" h="695325">
                <a:moveTo>
                  <a:pt x="0" y="0"/>
                </a:moveTo>
                <a:lnTo>
                  <a:pt x="11420475" y="0"/>
                </a:lnTo>
                <a:lnTo>
                  <a:pt x="11420475" y="695325"/>
                </a:lnTo>
                <a:lnTo>
                  <a:pt x="0" y="695325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 w="12700">
            <a:solidFill>
              <a:srgbClr val="5D6C79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1025" y="6238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9" name="Text 47"/>
          <p:cNvSpPr/>
          <p:nvPr/>
        </p:nvSpPr>
        <p:spPr>
          <a:xfrm>
            <a:off x="877937" y="6105525"/>
            <a:ext cx="1084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Research shows that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misleading content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context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the most difficult to detect, requiring subject-matter expertise to identify subtle misrepresentations.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restresearch.ac.uk/b469c2f0c0b3e98796dbb8102a117f07b531af22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3333" r="333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76363"/>
            <a:ext cx="1971675" cy="419100"/>
          </a:xfrm>
          <a:custGeom>
            <a:avLst/>
            <a:gdLst/>
            <a:ahLst/>
            <a:cxnLst/>
            <a:rect l="l" t="t" r="r" b="b"/>
            <a:pathLst>
              <a:path w="1971675" h="419100">
                <a:moveTo>
                  <a:pt x="0" y="0"/>
                </a:moveTo>
                <a:lnTo>
                  <a:pt x="1971675" y="0"/>
                </a:lnTo>
                <a:lnTo>
                  <a:pt x="19716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7636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52563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2406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87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706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1101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consequences of misinformation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spc="58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Societal Consequences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1111733"/>
            <a:ext cx="1153422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fake news shapes our world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9106" y="1519368"/>
            <a:ext cx="5632778" cy="2001119"/>
          </a:xfrm>
          <a:custGeom>
            <a:avLst/>
            <a:gdLst/>
            <a:ahLst/>
            <a:cxnLst/>
            <a:rect l="l" t="t" r="r" b="b"/>
            <a:pathLst>
              <a:path w="5632778" h="2001119">
                <a:moveTo>
                  <a:pt x="0" y="0"/>
                </a:moveTo>
                <a:lnTo>
                  <a:pt x="5632778" y="0"/>
                </a:lnTo>
                <a:lnTo>
                  <a:pt x="563277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9106" y="1519368"/>
            <a:ext cx="37058" cy="2001119"/>
          </a:xfrm>
          <a:custGeom>
            <a:avLst/>
            <a:gdLst/>
            <a:ahLst/>
            <a:cxnLst/>
            <a:rect l="l" t="t" r="r" b="b"/>
            <a:pathLst>
              <a:path w="37058" h="2001119">
                <a:moveTo>
                  <a:pt x="0" y="0"/>
                </a:moveTo>
                <a:lnTo>
                  <a:pt x="37058" y="0"/>
                </a:lnTo>
                <a:lnTo>
                  <a:pt x="3705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Shape 5"/>
          <p:cNvSpPr/>
          <p:nvPr/>
        </p:nvSpPr>
        <p:spPr>
          <a:xfrm>
            <a:off x="555866" y="1667599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0" y="0"/>
                </a:moveTo>
                <a:lnTo>
                  <a:pt x="444693" y="0"/>
                </a:lnTo>
                <a:lnTo>
                  <a:pt x="444693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Shape 6"/>
          <p:cNvSpPr/>
          <p:nvPr/>
        </p:nvSpPr>
        <p:spPr>
          <a:xfrm>
            <a:off x="685568" y="1797301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39048"/>
                </a:moveTo>
                <a:lnTo>
                  <a:pt x="87216" y="31521"/>
                </a:lnTo>
                <a:cubicBezTo>
                  <a:pt x="78169" y="18999"/>
                  <a:pt x="63657" y="11581"/>
                  <a:pt x="48168" y="11581"/>
                </a:cubicBezTo>
                <a:cubicBezTo>
                  <a:pt x="21569" y="11581"/>
                  <a:pt x="0" y="33149"/>
                  <a:pt x="0" y="59748"/>
                </a:cubicBezTo>
                <a:lnTo>
                  <a:pt x="0" y="60689"/>
                </a:lnTo>
                <a:cubicBezTo>
                  <a:pt x="0" y="69230"/>
                  <a:pt x="2244" y="78060"/>
                  <a:pt x="6007" y="86854"/>
                </a:cubicBezTo>
                <a:lnTo>
                  <a:pt x="44368" y="86854"/>
                </a:lnTo>
                <a:cubicBezTo>
                  <a:pt x="45526" y="86854"/>
                  <a:pt x="46576" y="86167"/>
                  <a:pt x="47046" y="85081"/>
                </a:cubicBezTo>
                <a:lnTo>
                  <a:pt x="58554" y="57468"/>
                </a:lnTo>
                <a:cubicBezTo>
                  <a:pt x="59893" y="54284"/>
                  <a:pt x="63005" y="52185"/>
                  <a:pt x="66443" y="52112"/>
                </a:cubicBezTo>
                <a:cubicBezTo>
                  <a:pt x="69881" y="52040"/>
                  <a:pt x="73066" y="54067"/>
                  <a:pt x="74477" y="57215"/>
                </a:cubicBezTo>
                <a:lnTo>
                  <a:pt x="93042" y="98435"/>
                </a:lnTo>
                <a:lnTo>
                  <a:pt x="108025" y="68470"/>
                </a:lnTo>
                <a:cubicBezTo>
                  <a:pt x="109509" y="65539"/>
                  <a:pt x="112512" y="63657"/>
                  <a:pt x="115805" y="63657"/>
                </a:cubicBezTo>
                <a:cubicBezTo>
                  <a:pt x="119099" y="63657"/>
                  <a:pt x="122102" y="65502"/>
                  <a:pt x="123586" y="68470"/>
                </a:cubicBezTo>
                <a:lnTo>
                  <a:pt x="131982" y="85226"/>
                </a:lnTo>
                <a:cubicBezTo>
                  <a:pt x="132489" y="86203"/>
                  <a:pt x="133466" y="86818"/>
                  <a:pt x="134588" y="86818"/>
                </a:cubicBezTo>
                <a:lnTo>
                  <a:pt x="179318" y="86818"/>
                </a:lnTo>
                <a:cubicBezTo>
                  <a:pt x="183117" y="78024"/>
                  <a:pt x="185325" y="69194"/>
                  <a:pt x="185325" y="60653"/>
                </a:cubicBezTo>
                <a:lnTo>
                  <a:pt x="185325" y="59712"/>
                </a:lnTo>
                <a:cubicBezTo>
                  <a:pt x="185289" y="33149"/>
                  <a:pt x="163720" y="11581"/>
                  <a:pt x="137121" y="11581"/>
                </a:cubicBezTo>
                <a:cubicBezTo>
                  <a:pt x="121668" y="11581"/>
                  <a:pt x="107120" y="18999"/>
                  <a:pt x="98073" y="31521"/>
                </a:cubicBezTo>
                <a:lnTo>
                  <a:pt x="92644" y="39012"/>
                </a:lnTo>
                <a:close/>
                <a:moveTo>
                  <a:pt x="169945" y="104225"/>
                </a:moveTo>
                <a:lnTo>
                  <a:pt x="134551" y="104225"/>
                </a:lnTo>
                <a:cubicBezTo>
                  <a:pt x="126879" y="104225"/>
                  <a:pt x="119859" y="99882"/>
                  <a:pt x="116421" y="93006"/>
                </a:cubicBezTo>
                <a:lnTo>
                  <a:pt x="115805" y="91776"/>
                </a:lnTo>
                <a:lnTo>
                  <a:pt x="100425" y="122573"/>
                </a:lnTo>
                <a:cubicBezTo>
                  <a:pt x="98941" y="125577"/>
                  <a:pt x="95829" y="127458"/>
                  <a:pt x="92463" y="127386"/>
                </a:cubicBezTo>
                <a:cubicBezTo>
                  <a:pt x="89098" y="127314"/>
                  <a:pt x="86094" y="125323"/>
                  <a:pt x="84719" y="122283"/>
                </a:cubicBezTo>
                <a:lnTo>
                  <a:pt x="66878" y="82656"/>
                </a:lnTo>
                <a:lnTo>
                  <a:pt x="63078" y="91776"/>
                </a:lnTo>
                <a:cubicBezTo>
                  <a:pt x="59929" y="99339"/>
                  <a:pt x="52547" y="104261"/>
                  <a:pt x="44368" y="104261"/>
                </a:cubicBezTo>
                <a:lnTo>
                  <a:pt x="15344" y="104261"/>
                </a:lnTo>
                <a:cubicBezTo>
                  <a:pt x="32426" y="130969"/>
                  <a:pt x="59857" y="155541"/>
                  <a:pt x="77011" y="168642"/>
                </a:cubicBezTo>
                <a:cubicBezTo>
                  <a:pt x="81498" y="172044"/>
                  <a:pt x="86999" y="173744"/>
                  <a:pt x="92608" y="173744"/>
                </a:cubicBezTo>
                <a:cubicBezTo>
                  <a:pt x="98218" y="173744"/>
                  <a:pt x="103754" y="172080"/>
                  <a:pt x="108206" y="168642"/>
                </a:cubicBezTo>
                <a:cubicBezTo>
                  <a:pt x="125432" y="155505"/>
                  <a:pt x="152863" y="130933"/>
                  <a:pt x="169945" y="1042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11733" y="1741714"/>
            <a:ext cx="201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Health Crisis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5866" y="2223465"/>
            <a:ext cx="5391903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health news has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devastating consequences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causing confusion, panic, and harmful behaviors.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4395" y="289050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85696" y="11581"/>
                </a:moveTo>
                <a:cubicBezTo>
                  <a:pt x="85696" y="5182"/>
                  <a:pt x="80514" y="0"/>
                  <a:pt x="74116" y="0"/>
                </a:cubicBezTo>
                <a:cubicBezTo>
                  <a:pt x="67717" y="0"/>
                  <a:pt x="62535" y="5182"/>
                  <a:pt x="62535" y="11581"/>
                </a:cubicBezTo>
                <a:cubicBezTo>
                  <a:pt x="62535" y="24348"/>
                  <a:pt x="47104" y="30717"/>
                  <a:pt x="38071" y="21714"/>
                </a:cubicBezTo>
                <a:cubicBezTo>
                  <a:pt x="33555" y="17197"/>
                  <a:pt x="26230" y="17197"/>
                  <a:pt x="21685" y="21714"/>
                </a:cubicBezTo>
                <a:cubicBezTo>
                  <a:pt x="17139" y="26230"/>
                  <a:pt x="17168" y="33555"/>
                  <a:pt x="21685" y="38100"/>
                </a:cubicBezTo>
                <a:cubicBezTo>
                  <a:pt x="30717" y="47133"/>
                  <a:pt x="24319" y="62564"/>
                  <a:pt x="11552" y="62564"/>
                </a:cubicBezTo>
                <a:cubicBezTo>
                  <a:pt x="5153" y="62564"/>
                  <a:pt x="-29" y="67746"/>
                  <a:pt x="-29" y="74144"/>
                </a:cubicBezTo>
                <a:cubicBezTo>
                  <a:pt x="-29" y="80543"/>
                  <a:pt x="5153" y="85725"/>
                  <a:pt x="11552" y="85725"/>
                </a:cubicBezTo>
                <a:cubicBezTo>
                  <a:pt x="24319" y="85725"/>
                  <a:pt x="30688" y="101156"/>
                  <a:pt x="21685" y="110189"/>
                </a:cubicBezTo>
                <a:cubicBezTo>
                  <a:pt x="17168" y="114705"/>
                  <a:pt x="17168" y="122030"/>
                  <a:pt x="21685" y="126575"/>
                </a:cubicBezTo>
                <a:cubicBezTo>
                  <a:pt x="26201" y="131121"/>
                  <a:pt x="33526" y="131092"/>
                  <a:pt x="38071" y="126575"/>
                </a:cubicBezTo>
                <a:cubicBezTo>
                  <a:pt x="47104" y="117543"/>
                  <a:pt x="62535" y="123941"/>
                  <a:pt x="62535" y="136708"/>
                </a:cubicBezTo>
                <a:cubicBezTo>
                  <a:pt x="62535" y="143107"/>
                  <a:pt x="67717" y="148289"/>
                  <a:pt x="74116" y="148289"/>
                </a:cubicBezTo>
                <a:cubicBezTo>
                  <a:pt x="80514" y="148289"/>
                  <a:pt x="85696" y="143107"/>
                  <a:pt x="85696" y="136708"/>
                </a:cubicBezTo>
                <a:cubicBezTo>
                  <a:pt x="85696" y="123941"/>
                  <a:pt x="101127" y="117572"/>
                  <a:pt x="110160" y="126575"/>
                </a:cubicBezTo>
                <a:cubicBezTo>
                  <a:pt x="114676" y="131092"/>
                  <a:pt x="122001" y="131092"/>
                  <a:pt x="126546" y="126575"/>
                </a:cubicBezTo>
                <a:cubicBezTo>
                  <a:pt x="131092" y="122059"/>
                  <a:pt x="131063" y="114734"/>
                  <a:pt x="126546" y="110189"/>
                </a:cubicBezTo>
                <a:cubicBezTo>
                  <a:pt x="117514" y="101156"/>
                  <a:pt x="123912" y="85725"/>
                  <a:pt x="136679" y="85725"/>
                </a:cubicBezTo>
                <a:cubicBezTo>
                  <a:pt x="143078" y="85725"/>
                  <a:pt x="148260" y="80543"/>
                  <a:pt x="148260" y="74144"/>
                </a:cubicBezTo>
                <a:cubicBezTo>
                  <a:pt x="148260" y="67746"/>
                  <a:pt x="143078" y="62564"/>
                  <a:pt x="136679" y="62564"/>
                </a:cubicBezTo>
                <a:cubicBezTo>
                  <a:pt x="123912" y="62564"/>
                  <a:pt x="117543" y="47133"/>
                  <a:pt x="126546" y="38100"/>
                </a:cubicBezTo>
                <a:cubicBezTo>
                  <a:pt x="131063" y="33584"/>
                  <a:pt x="131063" y="26259"/>
                  <a:pt x="126546" y="21714"/>
                </a:cubicBezTo>
                <a:cubicBezTo>
                  <a:pt x="122030" y="17168"/>
                  <a:pt x="114705" y="17197"/>
                  <a:pt x="110160" y="21714"/>
                </a:cubicBezTo>
                <a:cubicBezTo>
                  <a:pt x="101127" y="30717"/>
                  <a:pt x="85696" y="24348"/>
                  <a:pt x="85696" y="11581"/>
                </a:cubicBezTo>
                <a:close/>
                <a:moveTo>
                  <a:pt x="46322" y="64851"/>
                </a:moveTo>
                <a:cubicBezTo>
                  <a:pt x="46322" y="59738"/>
                  <a:pt x="50473" y="55587"/>
                  <a:pt x="55587" y="55587"/>
                </a:cubicBezTo>
                <a:cubicBezTo>
                  <a:pt x="60700" y="55587"/>
                  <a:pt x="64851" y="59738"/>
                  <a:pt x="64851" y="64851"/>
                </a:cubicBezTo>
                <a:cubicBezTo>
                  <a:pt x="64851" y="69964"/>
                  <a:pt x="60700" y="74116"/>
                  <a:pt x="55587" y="74116"/>
                </a:cubicBezTo>
                <a:cubicBezTo>
                  <a:pt x="50473" y="74116"/>
                  <a:pt x="46322" y="69964"/>
                  <a:pt x="46322" y="64851"/>
                </a:cubicBezTo>
                <a:close/>
                <a:moveTo>
                  <a:pt x="92644" y="74116"/>
                </a:moveTo>
                <a:cubicBezTo>
                  <a:pt x="97758" y="74116"/>
                  <a:pt x="101909" y="78267"/>
                  <a:pt x="101909" y="83380"/>
                </a:cubicBezTo>
                <a:cubicBezTo>
                  <a:pt x="101909" y="88493"/>
                  <a:pt x="97758" y="92644"/>
                  <a:pt x="92644" y="92644"/>
                </a:cubicBezTo>
                <a:cubicBezTo>
                  <a:pt x="87531" y="92644"/>
                  <a:pt x="83380" y="88493"/>
                  <a:pt x="83380" y="83380"/>
                </a:cubicBezTo>
                <a:cubicBezTo>
                  <a:pt x="83380" y="78267"/>
                  <a:pt x="87531" y="74116"/>
                  <a:pt x="92644" y="74116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12" name="Text 10"/>
          <p:cNvSpPr/>
          <p:nvPr/>
        </p:nvSpPr>
        <p:spPr>
          <a:xfrm>
            <a:off x="815271" y="2853447"/>
            <a:ext cx="500279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misinformation led to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vaccine hesitancy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ineffective treatments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4395" y="3186967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8529" y="18529"/>
                </a:moveTo>
                <a:cubicBezTo>
                  <a:pt x="18529" y="13404"/>
                  <a:pt x="14389" y="9264"/>
                  <a:pt x="9264" y="9264"/>
                </a:cubicBezTo>
                <a:cubicBezTo>
                  <a:pt x="4140" y="9264"/>
                  <a:pt x="0" y="13404"/>
                  <a:pt x="0" y="18529"/>
                </a:cubicBezTo>
                <a:lnTo>
                  <a:pt x="0" y="115805"/>
                </a:lnTo>
                <a:cubicBezTo>
                  <a:pt x="0" y="128602"/>
                  <a:pt x="10365" y="138967"/>
                  <a:pt x="23161" y="138967"/>
                </a:cubicBezTo>
                <a:lnTo>
                  <a:pt x="138967" y="138967"/>
                </a:lnTo>
                <a:cubicBezTo>
                  <a:pt x="144091" y="138967"/>
                  <a:pt x="148231" y="134827"/>
                  <a:pt x="148231" y="129702"/>
                </a:cubicBezTo>
                <a:cubicBezTo>
                  <a:pt x="148231" y="124578"/>
                  <a:pt x="144091" y="120438"/>
                  <a:pt x="138967" y="120438"/>
                </a:cubicBezTo>
                <a:lnTo>
                  <a:pt x="23161" y="120438"/>
                </a:lnTo>
                <a:cubicBezTo>
                  <a:pt x="20613" y="120438"/>
                  <a:pt x="18529" y="118353"/>
                  <a:pt x="18529" y="115805"/>
                </a:cubicBezTo>
                <a:lnTo>
                  <a:pt x="18529" y="18529"/>
                </a:lnTo>
                <a:close/>
                <a:moveTo>
                  <a:pt x="136245" y="43601"/>
                </a:moveTo>
                <a:cubicBezTo>
                  <a:pt x="139864" y="39982"/>
                  <a:pt x="139864" y="34105"/>
                  <a:pt x="136245" y="30486"/>
                </a:cubicBezTo>
                <a:cubicBezTo>
                  <a:pt x="132626" y="26867"/>
                  <a:pt x="126749" y="26867"/>
                  <a:pt x="123130" y="30486"/>
                </a:cubicBezTo>
                <a:lnTo>
                  <a:pt x="92644" y="61001"/>
                </a:lnTo>
                <a:lnTo>
                  <a:pt x="76026" y="44411"/>
                </a:lnTo>
                <a:cubicBezTo>
                  <a:pt x="72407" y="40792"/>
                  <a:pt x="66530" y="40792"/>
                  <a:pt x="62911" y="44411"/>
                </a:cubicBezTo>
                <a:lnTo>
                  <a:pt x="35118" y="72205"/>
                </a:lnTo>
                <a:cubicBezTo>
                  <a:pt x="31499" y="75824"/>
                  <a:pt x="31499" y="81701"/>
                  <a:pt x="35118" y="85320"/>
                </a:cubicBezTo>
                <a:cubicBezTo>
                  <a:pt x="38737" y="88939"/>
                  <a:pt x="44614" y="88939"/>
                  <a:pt x="48233" y="85320"/>
                </a:cubicBezTo>
                <a:lnTo>
                  <a:pt x="69483" y="64069"/>
                </a:lnTo>
                <a:lnTo>
                  <a:pt x="86101" y="80687"/>
                </a:lnTo>
                <a:cubicBezTo>
                  <a:pt x="89720" y="84306"/>
                  <a:pt x="95597" y="84306"/>
                  <a:pt x="99216" y="80687"/>
                </a:cubicBezTo>
                <a:lnTo>
                  <a:pt x="136274" y="4363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14" name="Text 12"/>
          <p:cNvSpPr/>
          <p:nvPr/>
        </p:nvSpPr>
        <p:spPr>
          <a:xfrm>
            <a:off x="815271" y="3149909"/>
            <a:ext cx="479897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health claims can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decades of progress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disease eradication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6473" y="1519368"/>
            <a:ext cx="5632778" cy="2001119"/>
          </a:xfrm>
          <a:custGeom>
            <a:avLst/>
            <a:gdLst/>
            <a:ahLst/>
            <a:cxnLst/>
            <a:rect l="l" t="t" r="r" b="b"/>
            <a:pathLst>
              <a:path w="5632778" h="2001119">
                <a:moveTo>
                  <a:pt x="0" y="0"/>
                </a:moveTo>
                <a:lnTo>
                  <a:pt x="5632778" y="0"/>
                </a:lnTo>
                <a:lnTo>
                  <a:pt x="563277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86473" y="1519368"/>
            <a:ext cx="37058" cy="2001119"/>
          </a:xfrm>
          <a:custGeom>
            <a:avLst/>
            <a:gdLst/>
            <a:ahLst/>
            <a:cxnLst/>
            <a:rect l="l" t="t" r="r" b="b"/>
            <a:pathLst>
              <a:path w="37058" h="2001119">
                <a:moveTo>
                  <a:pt x="0" y="0"/>
                </a:moveTo>
                <a:lnTo>
                  <a:pt x="37058" y="0"/>
                </a:lnTo>
                <a:lnTo>
                  <a:pt x="3705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3233" y="1667599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0" y="0"/>
                </a:moveTo>
                <a:lnTo>
                  <a:pt x="444693" y="0"/>
                </a:lnTo>
                <a:lnTo>
                  <a:pt x="444693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1354" y="1797301"/>
            <a:ext cx="208450" cy="185289"/>
          </a:xfrm>
          <a:custGeom>
            <a:avLst/>
            <a:gdLst/>
            <a:ahLst/>
            <a:cxnLst/>
            <a:rect l="l" t="t" r="r" b="b"/>
            <a:pathLst>
              <a:path w="208450" h="185289">
                <a:moveTo>
                  <a:pt x="34742" y="34742"/>
                </a:moveTo>
                <a:cubicBezTo>
                  <a:pt x="34742" y="21967"/>
                  <a:pt x="45128" y="11581"/>
                  <a:pt x="57903" y="11581"/>
                </a:cubicBezTo>
                <a:lnTo>
                  <a:pt x="150547" y="11581"/>
                </a:lnTo>
                <a:cubicBezTo>
                  <a:pt x="163322" y="11581"/>
                  <a:pt x="173708" y="21967"/>
                  <a:pt x="173708" y="34742"/>
                </a:cubicBezTo>
                <a:lnTo>
                  <a:pt x="173708" y="115805"/>
                </a:lnTo>
                <a:cubicBezTo>
                  <a:pt x="173708" y="128580"/>
                  <a:pt x="163322" y="138967"/>
                  <a:pt x="150547" y="138967"/>
                </a:cubicBezTo>
                <a:lnTo>
                  <a:pt x="57903" y="138967"/>
                </a:lnTo>
                <a:cubicBezTo>
                  <a:pt x="45128" y="138967"/>
                  <a:pt x="34742" y="128580"/>
                  <a:pt x="34742" y="115805"/>
                </a:cubicBezTo>
                <a:lnTo>
                  <a:pt x="34742" y="34742"/>
                </a:lnTo>
                <a:close/>
                <a:moveTo>
                  <a:pt x="131982" y="41835"/>
                </a:moveTo>
                <a:cubicBezTo>
                  <a:pt x="127929" y="39301"/>
                  <a:pt x="122573" y="40532"/>
                  <a:pt x="120003" y="44585"/>
                </a:cubicBezTo>
                <a:lnTo>
                  <a:pt x="97783" y="80159"/>
                </a:lnTo>
                <a:lnTo>
                  <a:pt x="88012" y="67131"/>
                </a:lnTo>
                <a:cubicBezTo>
                  <a:pt x="85117" y="63295"/>
                  <a:pt x="79689" y="62499"/>
                  <a:pt x="75853" y="65394"/>
                </a:cubicBezTo>
                <a:cubicBezTo>
                  <a:pt x="72017" y="68289"/>
                  <a:pt x="71220" y="73717"/>
                  <a:pt x="74116" y="77553"/>
                </a:cubicBezTo>
                <a:lnTo>
                  <a:pt x="91486" y="100715"/>
                </a:lnTo>
                <a:cubicBezTo>
                  <a:pt x="93187" y="102994"/>
                  <a:pt x="95938" y="104297"/>
                  <a:pt x="98797" y="104189"/>
                </a:cubicBezTo>
                <a:cubicBezTo>
                  <a:pt x="101655" y="104080"/>
                  <a:pt x="104261" y="102560"/>
                  <a:pt x="105781" y="100099"/>
                </a:cubicBezTo>
                <a:lnTo>
                  <a:pt x="134732" y="53777"/>
                </a:lnTo>
                <a:cubicBezTo>
                  <a:pt x="137266" y="49724"/>
                  <a:pt x="136035" y="44368"/>
                  <a:pt x="131982" y="41799"/>
                </a:cubicBezTo>
                <a:close/>
                <a:moveTo>
                  <a:pt x="17371" y="112910"/>
                </a:moveTo>
                <a:lnTo>
                  <a:pt x="17371" y="150547"/>
                </a:lnTo>
                <a:cubicBezTo>
                  <a:pt x="17371" y="153732"/>
                  <a:pt x="19976" y="156337"/>
                  <a:pt x="23161" y="156337"/>
                </a:cubicBezTo>
                <a:lnTo>
                  <a:pt x="185289" y="156337"/>
                </a:lnTo>
                <a:cubicBezTo>
                  <a:pt x="188473" y="156337"/>
                  <a:pt x="191079" y="153732"/>
                  <a:pt x="191079" y="150547"/>
                </a:cubicBezTo>
                <a:lnTo>
                  <a:pt x="191079" y="112910"/>
                </a:lnTo>
                <a:cubicBezTo>
                  <a:pt x="191079" y="108097"/>
                  <a:pt x="194951" y="104225"/>
                  <a:pt x="199764" y="104225"/>
                </a:cubicBezTo>
                <a:cubicBezTo>
                  <a:pt x="204578" y="104225"/>
                  <a:pt x="208450" y="108097"/>
                  <a:pt x="208450" y="112910"/>
                </a:cubicBezTo>
                <a:lnTo>
                  <a:pt x="208450" y="150547"/>
                </a:lnTo>
                <a:cubicBezTo>
                  <a:pt x="208450" y="163322"/>
                  <a:pt x="198064" y="173708"/>
                  <a:pt x="185289" y="173708"/>
                </a:cubicBezTo>
                <a:lnTo>
                  <a:pt x="23161" y="173708"/>
                </a:lnTo>
                <a:cubicBezTo>
                  <a:pt x="10386" y="173708"/>
                  <a:pt x="0" y="163322"/>
                  <a:pt x="0" y="150547"/>
                </a:cubicBezTo>
                <a:lnTo>
                  <a:pt x="0" y="112910"/>
                </a:lnTo>
                <a:cubicBezTo>
                  <a:pt x="0" y="108097"/>
                  <a:pt x="3872" y="104225"/>
                  <a:pt x="8685" y="104225"/>
                </a:cubicBezTo>
                <a:cubicBezTo>
                  <a:pt x="13499" y="104225"/>
                  <a:pt x="17371" y="108097"/>
                  <a:pt x="17371" y="11291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909099" y="1741714"/>
            <a:ext cx="203817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Democratic Erosion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3233" y="2223465"/>
            <a:ext cx="5391903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undermines democratic processes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manipulating public opinion and voter behavior.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2497" y="2890505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11870" y="-7209"/>
                </a:moveTo>
                <a:cubicBezTo>
                  <a:pt x="9149" y="-9930"/>
                  <a:pt x="4748" y="-9930"/>
                  <a:pt x="2056" y="-7209"/>
                </a:cubicBezTo>
                <a:cubicBezTo>
                  <a:pt x="-637" y="-4487"/>
                  <a:pt x="-666" y="-87"/>
                  <a:pt x="2027" y="2635"/>
                </a:cubicBezTo>
                <a:lnTo>
                  <a:pt x="154890" y="155498"/>
                </a:lnTo>
                <a:cubicBezTo>
                  <a:pt x="157611" y="158219"/>
                  <a:pt x="162012" y="158219"/>
                  <a:pt x="164704" y="155498"/>
                </a:cubicBezTo>
                <a:cubicBezTo>
                  <a:pt x="167397" y="152776"/>
                  <a:pt x="167426" y="148376"/>
                  <a:pt x="164704" y="145683"/>
                </a:cubicBezTo>
                <a:lnTo>
                  <a:pt x="90184" y="71134"/>
                </a:lnTo>
                <a:cubicBezTo>
                  <a:pt x="106107" y="67978"/>
                  <a:pt x="118122" y="53907"/>
                  <a:pt x="118122" y="37058"/>
                </a:cubicBezTo>
                <a:cubicBezTo>
                  <a:pt x="118122" y="17863"/>
                  <a:pt x="102575" y="2316"/>
                  <a:pt x="83380" y="2316"/>
                </a:cubicBezTo>
                <a:cubicBezTo>
                  <a:pt x="66530" y="2316"/>
                  <a:pt x="52460" y="14331"/>
                  <a:pt x="49304" y="30254"/>
                </a:cubicBezTo>
                <a:lnTo>
                  <a:pt x="11870" y="-7209"/>
                </a:lnTo>
                <a:close/>
                <a:moveTo>
                  <a:pt x="68209" y="88417"/>
                </a:moveTo>
                <a:cubicBezTo>
                  <a:pt x="42819" y="91660"/>
                  <a:pt x="23161" y="113345"/>
                  <a:pt x="23161" y="139632"/>
                </a:cubicBezTo>
                <a:cubicBezTo>
                  <a:pt x="23161" y="144380"/>
                  <a:pt x="27012" y="148231"/>
                  <a:pt x="31760" y="148231"/>
                </a:cubicBezTo>
                <a:lnTo>
                  <a:pt x="128023" y="148231"/>
                </a:lnTo>
                <a:lnTo>
                  <a:pt x="68209" y="88417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2" name="Text 20"/>
          <p:cNvSpPr/>
          <p:nvPr/>
        </p:nvSpPr>
        <p:spPr>
          <a:xfrm>
            <a:off x="6612637" y="2853447"/>
            <a:ext cx="360386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Voter suppression tactics using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voting information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1762" y="3186967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01880" y="81064"/>
                </a:moveTo>
                <a:lnTo>
                  <a:pt x="46612" y="81064"/>
                </a:lnTo>
                <a:cubicBezTo>
                  <a:pt x="47451" y="99737"/>
                  <a:pt x="51591" y="116935"/>
                  <a:pt x="57468" y="129528"/>
                </a:cubicBezTo>
                <a:cubicBezTo>
                  <a:pt x="60769" y="136622"/>
                  <a:pt x="64330" y="141630"/>
                  <a:pt x="67630" y="144699"/>
                </a:cubicBezTo>
                <a:cubicBezTo>
                  <a:pt x="70873" y="147739"/>
                  <a:pt x="73102" y="148231"/>
                  <a:pt x="74260" y="148231"/>
                </a:cubicBezTo>
                <a:cubicBezTo>
                  <a:pt x="75418" y="148231"/>
                  <a:pt x="77648" y="147739"/>
                  <a:pt x="80890" y="144699"/>
                </a:cubicBezTo>
                <a:cubicBezTo>
                  <a:pt x="84191" y="141630"/>
                  <a:pt x="87752" y="136593"/>
                  <a:pt x="91052" y="129528"/>
                </a:cubicBezTo>
                <a:cubicBezTo>
                  <a:pt x="96929" y="116935"/>
                  <a:pt x="101069" y="99737"/>
                  <a:pt x="101909" y="81064"/>
                </a:cubicBezTo>
                <a:close/>
                <a:moveTo>
                  <a:pt x="46583" y="67167"/>
                </a:moveTo>
                <a:lnTo>
                  <a:pt x="101851" y="67167"/>
                </a:lnTo>
                <a:cubicBezTo>
                  <a:pt x="101040" y="48494"/>
                  <a:pt x="96900" y="31296"/>
                  <a:pt x="91023" y="18703"/>
                </a:cubicBezTo>
                <a:cubicBezTo>
                  <a:pt x="87723" y="11638"/>
                  <a:pt x="84162" y="6601"/>
                  <a:pt x="80861" y="3532"/>
                </a:cubicBezTo>
                <a:cubicBezTo>
                  <a:pt x="77619" y="492"/>
                  <a:pt x="75389" y="0"/>
                  <a:pt x="74231" y="0"/>
                </a:cubicBezTo>
                <a:cubicBezTo>
                  <a:pt x="73073" y="0"/>
                  <a:pt x="70844" y="492"/>
                  <a:pt x="67601" y="3532"/>
                </a:cubicBezTo>
                <a:cubicBezTo>
                  <a:pt x="64301" y="6601"/>
                  <a:pt x="60740" y="11638"/>
                  <a:pt x="57440" y="18703"/>
                </a:cubicBezTo>
                <a:cubicBezTo>
                  <a:pt x="51562" y="31296"/>
                  <a:pt x="47422" y="48494"/>
                  <a:pt x="46583" y="67167"/>
                </a:cubicBezTo>
                <a:close/>
                <a:moveTo>
                  <a:pt x="32686" y="67167"/>
                </a:moveTo>
                <a:cubicBezTo>
                  <a:pt x="33699" y="42385"/>
                  <a:pt x="40098" y="19368"/>
                  <a:pt x="49449" y="4256"/>
                </a:cubicBezTo>
                <a:cubicBezTo>
                  <a:pt x="22785" y="13694"/>
                  <a:pt x="3156" y="37984"/>
                  <a:pt x="434" y="67167"/>
                </a:cubicBezTo>
                <a:lnTo>
                  <a:pt x="32686" y="67167"/>
                </a:lnTo>
                <a:close/>
                <a:moveTo>
                  <a:pt x="434" y="81064"/>
                </a:moveTo>
                <a:cubicBezTo>
                  <a:pt x="3156" y="110247"/>
                  <a:pt x="22785" y="134537"/>
                  <a:pt x="49449" y="143975"/>
                </a:cubicBezTo>
                <a:cubicBezTo>
                  <a:pt x="40098" y="128863"/>
                  <a:pt x="33699" y="105846"/>
                  <a:pt x="32686" y="81064"/>
                </a:cubicBezTo>
                <a:lnTo>
                  <a:pt x="434" y="81064"/>
                </a:lnTo>
                <a:close/>
                <a:moveTo>
                  <a:pt x="115777" y="81064"/>
                </a:moveTo>
                <a:cubicBezTo>
                  <a:pt x="114763" y="105846"/>
                  <a:pt x="108365" y="128863"/>
                  <a:pt x="99014" y="143975"/>
                </a:cubicBezTo>
                <a:cubicBezTo>
                  <a:pt x="125678" y="134508"/>
                  <a:pt x="145307" y="110247"/>
                  <a:pt x="148028" y="81064"/>
                </a:cubicBezTo>
                <a:lnTo>
                  <a:pt x="115777" y="81064"/>
                </a:lnTo>
                <a:close/>
                <a:moveTo>
                  <a:pt x="148028" y="67167"/>
                </a:moveTo>
                <a:cubicBezTo>
                  <a:pt x="145307" y="37984"/>
                  <a:pt x="125678" y="13694"/>
                  <a:pt x="99014" y="4256"/>
                </a:cubicBezTo>
                <a:cubicBezTo>
                  <a:pt x="108365" y="19368"/>
                  <a:pt x="114763" y="42385"/>
                  <a:pt x="115777" y="67167"/>
                </a:cubicBezTo>
                <a:lnTo>
                  <a:pt x="148028" y="67167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4" name="Text 22"/>
          <p:cNvSpPr/>
          <p:nvPr/>
        </p:nvSpPr>
        <p:spPr>
          <a:xfrm>
            <a:off x="6612637" y="3149909"/>
            <a:ext cx="439134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interference campaigns exploit social media to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sow division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9106" y="3668717"/>
            <a:ext cx="5632778" cy="2001119"/>
          </a:xfrm>
          <a:custGeom>
            <a:avLst/>
            <a:gdLst/>
            <a:ahLst/>
            <a:cxnLst/>
            <a:rect l="l" t="t" r="r" b="b"/>
            <a:pathLst>
              <a:path w="5632778" h="2001119">
                <a:moveTo>
                  <a:pt x="0" y="0"/>
                </a:moveTo>
                <a:lnTo>
                  <a:pt x="5632778" y="0"/>
                </a:lnTo>
                <a:lnTo>
                  <a:pt x="563277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9106" y="3668717"/>
            <a:ext cx="37058" cy="2001119"/>
          </a:xfrm>
          <a:custGeom>
            <a:avLst/>
            <a:gdLst/>
            <a:ahLst/>
            <a:cxnLst/>
            <a:rect l="l" t="t" r="r" b="b"/>
            <a:pathLst>
              <a:path w="37058" h="2001119">
                <a:moveTo>
                  <a:pt x="0" y="0"/>
                </a:moveTo>
                <a:lnTo>
                  <a:pt x="37058" y="0"/>
                </a:lnTo>
                <a:lnTo>
                  <a:pt x="3705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7" name="Shape 25"/>
          <p:cNvSpPr/>
          <p:nvPr/>
        </p:nvSpPr>
        <p:spPr>
          <a:xfrm>
            <a:off x="555866" y="381694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0" y="0"/>
                </a:moveTo>
                <a:lnTo>
                  <a:pt x="444693" y="0"/>
                </a:lnTo>
                <a:lnTo>
                  <a:pt x="444693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8" name="Shape 26"/>
          <p:cNvSpPr/>
          <p:nvPr/>
        </p:nvSpPr>
        <p:spPr>
          <a:xfrm>
            <a:off x="697149" y="3946650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81064" y="17371"/>
                </a:moveTo>
                <a:cubicBezTo>
                  <a:pt x="92249" y="17371"/>
                  <a:pt x="101330" y="26452"/>
                  <a:pt x="101330" y="37637"/>
                </a:cubicBezTo>
                <a:cubicBezTo>
                  <a:pt x="101330" y="48822"/>
                  <a:pt x="92249" y="57903"/>
                  <a:pt x="81064" y="57903"/>
                </a:cubicBezTo>
                <a:cubicBezTo>
                  <a:pt x="69879" y="57903"/>
                  <a:pt x="60798" y="48822"/>
                  <a:pt x="60798" y="37637"/>
                </a:cubicBezTo>
                <a:cubicBezTo>
                  <a:pt x="60798" y="26452"/>
                  <a:pt x="69879" y="17371"/>
                  <a:pt x="81064" y="17371"/>
                </a:cubicBezTo>
                <a:close/>
                <a:moveTo>
                  <a:pt x="0" y="92644"/>
                </a:moveTo>
                <a:cubicBezTo>
                  <a:pt x="0" y="86239"/>
                  <a:pt x="5175" y="81064"/>
                  <a:pt x="11581" y="81064"/>
                </a:cubicBezTo>
                <a:lnTo>
                  <a:pt x="150547" y="81064"/>
                </a:lnTo>
                <a:cubicBezTo>
                  <a:pt x="156953" y="81064"/>
                  <a:pt x="162128" y="86239"/>
                  <a:pt x="162128" y="92644"/>
                </a:cubicBezTo>
                <a:cubicBezTo>
                  <a:pt x="162128" y="99050"/>
                  <a:pt x="156953" y="104225"/>
                  <a:pt x="150547" y="104225"/>
                </a:cubicBezTo>
                <a:lnTo>
                  <a:pt x="11581" y="104225"/>
                </a:lnTo>
                <a:cubicBezTo>
                  <a:pt x="5175" y="104225"/>
                  <a:pt x="0" y="99050"/>
                  <a:pt x="0" y="92644"/>
                </a:cubicBezTo>
                <a:close/>
                <a:moveTo>
                  <a:pt x="60798" y="147652"/>
                </a:moveTo>
                <a:cubicBezTo>
                  <a:pt x="60798" y="136467"/>
                  <a:pt x="69879" y="127386"/>
                  <a:pt x="81064" y="127386"/>
                </a:cubicBezTo>
                <a:cubicBezTo>
                  <a:pt x="92249" y="127386"/>
                  <a:pt x="101330" y="136467"/>
                  <a:pt x="101330" y="147652"/>
                </a:cubicBezTo>
                <a:cubicBezTo>
                  <a:pt x="101330" y="158837"/>
                  <a:pt x="92249" y="167918"/>
                  <a:pt x="81064" y="167918"/>
                </a:cubicBezTo>
                <a:cubicBezTo>
                  <a:pt x="69879" y="167918"/>
                  <a:pt x="60798" y="158837"/>
                  <a:pt x="60798" y="14765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1111733" y="3891064"/>
            <a:ext cx="189921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Polarization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5866" y="4372815"/>
            <a:ext cx="5391903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news creates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societal fractures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reinforcing echo chambers and eroding trust.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5866" y="5039854"/>
            <a:ext cx="185289" cy="148231"/>
          </a:xfrm>
          <a:custGeom>
            <a:avLst/>
            <a:gdLst/>
            <a:ahLst/>
            <a:cxnLst/>
            <a:rect l="l" t="t" r="r" b="b"/>
            <a:pathLst>
              <a:path w="185289" h="148231">
                <a:moveTo>
                  <a:pt x="21134" y="-7209"/>
                </a:moveTo>
                <a:cubicBezTo>
                  <a:pt x="18413" y="-9930"/>
                  <a:pt x="14012" y="-9930"/>
                  <a:pt x="11320" y="-7209"/>
                </a:cubicBezTo>
                <a:cubicBezTo>
                  <a:pt x="8628" y="-4487"/>
                  <a:pt x="8599" y="-87"/>
                  <a:pt x="11291" y="2635"/>
                </a:cubicBezTo>
                <a:lnTo>
                  <a:pt x="164154" y="155498"/>
                </a:lnTo>
                <a:cubicBezTo>
                  <a:pt x="166876" y="158219"/>
                  <a:pt x="171276" y="158219"/>
                  <a:pt x="173969" y="155498"/>
                </a:cubicBezTo>
                <a:cubicBezTo>
                  <a:pt x="176661" y="152776"/>
                  <a:pt x="176690" y="148376"/>
                  <a:pt x="173969" y="145683"/>
                </a:cubicBezTo>
                <a:lnTo>
                  <a:pt x="93166" y="64851"/>
                </a:lnTo>
                <a:cubicBezTo>
                  <a:pt x="109552" y="64562"/>
                  <a:pt x="122754" y="51186"/>
                  <a:pt x="122754" y="34742"/>
                </a:cubicBezTo>
                <a:cubicBezTo>
                  <a:pt x="122754" y="18124"/>
                  <a:pt x="109262" y="4632"/>
                  <a:pt x="92644" y="4632"/>
                </a:cubicBezTo>
                <a:cubicBezTo>
                  <a:pt x="76200" y="4632"/>
                  <a:pt x="62824" y="17834"/>
                  <a:pt x="62535" y="34221"/>
                </a:cubicBezTo>
                <a:lnTo>
                  <a:pt x="21134" y="-7209"/>
                </a:lnTo>
                <a:close/>
                <a:moveTo>
                  <a:pt x="148231" y="83380"/>
                </a:moveTo>
                <a:cubicBezTo>
                  <a:pt x="143251" y="83380"/>
                  <a:pt x="138474" y="84364"/>
                  <a:pt x="134132" y="86159"/>
                </a:cubicBezTo>
                <a:lnTo>
                  <a:pt x="183349" y="135377"/>
                </a:lnTo>
                <a:cubicBezTo>
                  <a:pt x="184565" y="133813"/>
                  <a:pt x="185289" y="131845"/>
                  <a:pt x="185289" y="129702"/>
                </a:cubicBezTo>
                <a:lnTo>
                  <a:pt x="185289" y="120438"/>
                </a:lnTo>
                <a:cubicBezTo>
                  <a:pt x="185289" y="99969"/>
                  <a:pt x="168700" y="83380"/>
                  <a:pt x="148231" y="83380"/>
                </a:cubicBezTo>
                <a:close/>
                <a:moveTo>
                  <a:pt x="17342" y="28285"/>
                </a:moveTo>
                <a:cubicBezTo>
                  <a:pt x="11117" y="31904"/>
                  <a:pt x="6948" y="38621"/>
                  <a:pt x="6948" y="46322"/>
                </a:cubicBezTo>
                <a:cubicBezTo>
                  <a:pt x="6948" y="57845"/>
                  <a:pt x="16271" y="67167"/>
                  <a:pt x="27793" y="67167"/>
                </a:cubicBezTo>
                <a:cubicBezTo>
                  <a:pt x="35494" y="67167"/>
                  <a:pt x="42211" y="62998"/>
                  <a:pt x="45830" y="56774"/>
                </a:cubicBezTo>
                <a:lnTo>
                  <a:pt x="17342" y="28285"/>
                </a:lnTo>
                <a:close/>
                <a:moveTo>
                  <a:pt x="72436" y="83380"/>
                </a:moveTo>
                <a:cubicBezTo>
                  <a:pt x="56976" y="90878"/>
                  <a:pt x="46322" y="106744"/>
                  <a:pt x="46322" y="125070"/>
                </a:cubicBezTo>
                <a:lnTo>
                  <a:pt x="46322" y="129702"/>
                </a:lnTo>
                <a:cubicBezTo>
                  <a:pt x="46322" y="134827"/>
                  <a:pt x="50462" y="138967"/>
                  <a:pt x="55587" y="138967"/>
                </a:cubicBezTo>
                <a:lnTo>
                  <a:pt x="128023" y="138967"/>
                </a:lnTo>
                <a:lnTo>
                  <a:pt x="72436" y="83380"/>
                </a:lnTo>
                <a:close/>
                <a:moveTo>
                  <a:pt x="37058" y="83380"/>
                </a:moveTo>
                <a:cubicBezTo>
                  <a:pt x="16589" y="83380"/>
                  <a:pt x="0" y="99969"/>
                  <a:pt x="0" y="120438"/>
                </a:cubicBezTo>
                <a:lnTo>
                  <a:pt x="0" y="129702"/>
                </a:lnTo>
                <a:cubicBezTo>
                  <a:pt x="0" y="134827"/>
                  <a:pt x="4140" y="138967"/>
                  <a:pt x="9264" y="138967"/>
                </a:cubicBezTo>
                <a:lnTo>
                  <a:pt x="34365" y="138967"/>
                </a:lnTo>
                <a:cubicBezTo>
                  <a:pt x="33120" y="136129"/>
                  <a:pt x="32426" y="133003"/>
                  <a:pt x="32426" y="129702"/>
                </a:cubicBezTo>
                <a:lnTo>
                  <a:pt x="32426" y="125070"/>
                </a:lnTo>
                <a:cubicBezTo>
                  <a:pt x="32426" y="109668"/>
                  <a:pt x="38216" y="95597"/>
                  <a:pt x="47741" y="84943"/>
                </a:cubicBezTo>
                <a:cubicBezTo>
                  <a:pt x="44353" y="83930"/>
                  <a:pt x="40764" y="83380"/>
                  <a:pt x="37058" y="83380"/>
                </a:cubicBezTo>
                <a:close/>
                <a:moveTo>
                  <a:pt x="178340" y="46322"/>
                </a:moveTo>
                <a:cubicBezTo>
                  <a:pt x="178340" y="34818"/>
                  <a:pt x="169000" y="25477"/>
                  <a:pt x="157495" y="25477"/>
                </a:cubicBezTo>
                <a:cubicBezTo>
                  <a:pt x="145991" y="25477"/>
                  <a:pt x="136650" y="34818"/>
                  <a:pt x="136650" y="46322"/>
                </a:cubicBezTo>
                <a:cubicBezTo>
                  <a:pt x="136650" y="57827"/>
                  <a:pt x="145991" y="67167"/>
                  <a:pt x="157495" y="67167"/>
                </a:cubicBezTo>
                <a:cubicBezTo>
                  <a:pt x="169000" y="67167"/>
                  <a:pt x="178340" y="57827"/>
                  <a:pt x="178340" y="46322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2" name="Text 30"/>
          <p:cNvSpPr/>
          <p:nvPr/>
        </p:nvSpPr>
        <p:spPr>
          <a:xfrm>
            <a:off x="815271" y="5002796"/>
            <a:ext cx="344637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Algorithmic amplification creates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ideological bubbles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5131" y="5336316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11870" y="-7209"/>
                </a:moveTo>
                <a:cubicBezTo>
                  <a:pt x="9149" y="-9930"/>
                  <a:pt x="4748" y="-9930"/>
                  <a:pt x="2056" y="-7209"/>
                </a:cubicBezTo>
                <a:cubicBezTo>
                  <a:pt x="-637" y="-4487"/>
                  <a:pt x="-666" y="-87"/>
                  <a:pt x="2027" y="2635"/>
                </a:cubicBezTo>
                <a:lnTo>
                  <a:pt x="154890" y="155498"/>
                </a:lnTo>
                <a:cubicBezTo>
                  <a:pt x="157611" y="158219"/>
                  <a:pt x="162012" y="158219"/>
                  <a:pt x="164704" y="155498"/>
                </a:cubicBezTo>
                <a:cubicBezTo>
                  <a:pt x="167397" y="152776"/>
                  <a:pt x="167426" y="148376"/>
                  <a:pt x="164704" y="145683"/>
                </a:cubicBezTo>
                <a:lnTo>
                  <a:pt x="81324" y="62303"/>
                </a:lnTo>
                <a:lnTo>
                  <a:pt x="85435" y="58192"/>
                </a:lnTo>
                <a:cubicBezTo>
                  <a:pt x="86651" y="56976"/>
                  <a:pt x="88186" y="56310"/>
                  <a:pt x="89749" y="56195"/>
                </a:cubicBezTo>
                <a:cubicBezTo>
                  <a:pt x="91718" y="56021"/>
                  <a:pt x="93745" y="56687"/>
                  <a:pt x="95250" y="58192"/>
                </a:cubicBezTo>
                <a:lnTo>
                  <a:pt x="146378" y="108857"/>
                </a:lnTo>
                <a:lnTo>
                  <a:pt x="166760" y="92644"/>
                </a:lnTo>
                <a:lnTo>
                  <a:pt x="166760" y="9264"/>
                </a:lnTo>
                <a:lnTo>
                  <a:pt x="134334" y="27793"/>
                </a:lnTo>
                <a:lnTo>
                  <a:pt x="127444" y="23190"/>
                </a:lnTo>
                <a:cubicBezTo>
                  <a:pt x="122870" y="20150"/>
                  <a:pt x="117514" y="18529"/>
                  <a:pt x="112013" y="18529"/>
                </a:cubicBezTo>
                <a:lnTo>
                  <a:pt x="91631" y="18529"/>
                </a:lnTo>
                <a:cubicBezTo>
                  <a:pt x="91313" y="18529"/>
                  <a:pt x="90965" y="18529"/>
                  <a:pt x="90647" y="18558"/>
                </a:cubicBezTo>
                <a:cubicBezTo>
                  <a:pt x="85754" y="18818"/>
                  <a:pt x="81151" y="21019"/>
                  <a:pt x="77850" y="24667"/>
                </a:cubicBezTo>
                <a:lnTo>
                  <a:pt x="61695" y="42645"/>
                </a:lnTo>
                <a:lnTo>
                  <a:pt x="51852" y="32802"/>
                </a:lnTo>
                <a:lnTo>
                  <a:pt x="64677" y="18558"/>
                </a:lnTo>
                <a:lnTo>
                  <a:pt x="53184" y="18558"/>
                </a:lnTo>
                <a:cubicBezTo>
                  <a:pt x="48754" y="18558"/>
                  <a:pt x="44469" y="19600"/>
                  <a:pt x="40590" y="21569"/>
                </a:cubicBezTo>
                <a:lnTo>
                  <a:pt x="11870" y="-7209"/>
                </a:lnTo>
                <a:close/>
                <a:moveTo>
                  <a:pt x="0" y="20208"/>
                </a:moveTo>
                <a:lnTo>
                  <a:pt x="0" y="92644"/>
                </a:lnTo>
                <a:lnTo>
                  <a:pt x="45280" y="130368"/>
                </a:lnTo>
                <a:cubicBezTo>
                  <a:pt x="51939" y="135927"/>
                  <a:pt x="60335" y="138967"/>
                  <a:pt x="68991" y="138967"/>
                </a:cubicBezTo>
                <a:lnTo>
                  <a:pt x="73536" y="138967"/>
                </a:lnTo>
                <a:lnTo>
                  <a:pt x="71510" y="136940"/>
                </a:lnTo>
                <a:cubicBezTo>
                  <a:pt x="68788" y="134219"/>
                  <a:pt x="68788" y="129818"/>
                  <a:pt x="71510" y="127125"/>
                </a:cubicBezTo>
                <a:cubicBezTo>
                  <a:pt x="74231" y="124433"/>
                  <a:pt x="78632" y="124404"/>
                  <a:pt x="81324" y="127125"/>
                </a:cubicBezTo>
                <a:lnTo>
                  <a:pt x="93194" y="138996"/>
                </a:lnTo>
                <a:lnTo>
                  <a:pt x="95800" y="138996"/>
                </a:lnTo>
                <a:cubicBezTo>
                  <a:pt x="102227" y="138996"/>
                  <a:pt x="108481" y="137316"/>
                  <a:pt x="113982" y="134247"/>
                </a:cubicBezTo>
                <a:lnTo>
                  <a:pt x="0" y="20208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4" name="Text 32"/>
          <p:cNvSpPr/>
          <p:nvPr/>
        </p:nvSpPr>
        <p:spPr>
          <a:xfrm>
            <a:off x="815271" y="5299258"/>
            <a:ext cx="388179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erosion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extends to all institutions, destabilizing society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6473" y="3668717"/>
            <a:ext cx="5632778" cy="2001119"/>
          </a:xfrm>
          <a:custGeom>
            <a:avLst/>
            <a:gdLst/>
            <a:ahLst/>
            <a:cxnLst/>
            <a:rect l="l" t="t" r="r" b="b"/>
            <a:pathLst>
              <a:path w="5632778" h="2001119">
                <a:moveTo>
                  <a:pt x="0" y="0"/>
                </a:moveTo>
                <a:lnTo>
                  <a:pt x="5632778" y="0"/>
                </a:lnTo>
                <a:lnTo>
                  <a:pt x="563277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86473" y="3668717"/>
            <a:ext cx="37058" cy="2001119"/>
          </a:xfrm>
          <a:custGeom>
            <a:avLst/>
            <a:gdLst/>
            <a:ahLst/>
            <a:cxnLst/>
            <a:rect l="l" t="t" r="r" b="b"/>
            <a:pathLst>
              <a:path w="37058" h="2001119">
                <a:moveTo>
                  <a:pt x="0" y="0"/>
                </a:moveTo>
                <a:lnTo>
                  <a:pt x="37058" y="0"/>
                </a:lnTo>
                <a:lnTo>
                  <a:pt x="37058" y="2001119"/>
                </a:lnTo>
                <a:lnTo>
                  <a:pt x="0" y="2001119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3233" y="381694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0" y="0"/>
                </a:moveTo>
                <a:lnTo>
                  <a:pt x="444693" y="0"/>
                </a:lnTo>
                <a:lnTo>
                  <a:pt x="444693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8" name="Shape 36"/>
          <p:cNvSpPr/>
          <p:nvPr/>
        </p:nvSpPr>
        <p:spPr>
          <a:xfrm>
            <a:off x="6517677" y="3946650"/>
            <a:ext cx="115805" cy="185289"/>
          </a:xfrm>
          <a:custGeom>
            <a:avLst/>
            <a:gdLst/>
            <a:ahLst/>
            <a:cxnLst/>
            <a:rect l="l" t="t" r="r" b="b"/>
            <a:pathLst>
              <a:path w="115805" h="185289">
                <a:moveTo>
                  <a:pt x="49217" y="8685"/>
                </a:moveTo>
                <a:cubicBezTo>
                  <a:pt x="49217" y="3872"/>
                  <a:pt x="53090" y="0"/>
                  <a:pt x="57903" y="0"/>
                </a:cubicBezTo>
                <a:cubicBezTo>
                  <a:pt x="62716" y="0"/>
                  <a:pt x="66588" y="3872"/>
                  <a:pt x="66588" y="8685"/>
                </a:cubicBezTo>
                <a:lnTo>
                  <a:pt x="66588" y="23161"/>
                </a:lnTo>
                <a:lnTo>
                  <a:pt x="86854" y="23161"/>
                </a:lnTo>
                <a:cubicBezTo>
                  <a:pt x="93260" y="23161"/>
                  <a:pt x="98435" y="28336"/>
                  <a:pt x="98435" y="34742"/>
                </a:cubicBezTo>
                <a:cubicBezTo>
                  <a:pt x="98435" y="41147"/>
                  <a:pt x="93260" y="46322"/>
                  <a:pt x="86854" y="46322"/>
                </a:cubicBezTo>
                <a:lnTo>
                  <a:pt x="45273" y="46322"/>
                </a:lnTo>
                <a:cubicBezTo>
                  <a:pt x="36262" y="46322"/>
                  <a:pt x="28951" y="53632"/>
                  <a:pt x="28951" y="62644"/>
                </a:cubicBezTo>
                <a:cubicBezTo>
                  <a:pt x="28951" y="70786"/>
                  <a:pt x="34923" y="77662"/>
                  <a:pt x="42957" y="78820"/>
                </a:cubicBezTo>
                <a:lnTo>
                  <a:pt x="76106" y="83561"/>
                </a:lnTo>
                <a:cubicBezTo>
                  <a:pt x="95576" y="86347"/>
                  <a:pt x="110015" y="102994"/>
                  <a:pt x="110015" y="122645"/>
                </a:cubicBezTo>
                <a:cubicBezTo>
                  <a:pt x="110015" y="144467"/>
                  <a:pt x="92319" y="162128"/>
                  <a:pt x="70533" y="162128"/>
                </a:cubicBezTo>
                <a:lnTo>
                  <a:pt x="66588" y="162128"/>
                </a:lnTo>
                <a:lnTo>
                  <a:pt x="66588" y="176603"/>
                </a:lnTo>
                <a:cubicBezTo>
                  <a:pt x="66588" y="181417"/>
                  <a:pt x="62716" y="185289"/>
                  <a:pt x="57903" y="185289"/>
                </a:cubicBezTo>
                <a:cubicBezTo>
                  <a:pt x="53090" y="185289"/>
                  <a:pt x="49217" y="181417"/>
                  <a:pt x="49217" y="176603"/>
                </a:cubicBezTo>
                <a:lnTo>
                  <a:pt x="49217" y="162128"/>
                </a:lnTo>
                <a:lnTo>
                  <a:pt x="23161" y="162128"/>
                </a:lnTo>
                <a:cubicBezTo>
                  <a:pt x="16756" y="162128"/>
                  <a:pt x="11581" y="156953"/>
                  <a:pt x="11581" y="150547"/>
                </a:cubicBezTo>
                <a:cubicBezTo>
                  <a:pt x="11581" y="144142"/>
                  <a:pt x="16756" y="138967"/>
                  <a:pt x="23161" y="138967"/>
                </a:cubicBezTo>
                <a:lnTo>
                  <a:pt x="70533" y="138967"/>
                </a:lnTo>
                <a:cubicBezTo>
                  <a:pt x="79544" y="138967"/>
                  <a:pt x="86854" y="131656"/>
                  <a:pt x="86854" y="122645"/>
                </a:cubicBezTo>
                <a:cubicBezTo>
                  <a:pt x="86854" y="114503"/>
                  <a:pt x="80883" y="107627"/>
                  <a:pt x="72849" y="106469"/>
                </a:cubicBezTo>
                <a:lnTo>
                  <a:pt x="39700" y="101728"/>
                </a:lnTo>
                <a:cubicBezTo>
                  <a:pt x="20230" y="98977"/>
                  <a:pt x="5790" y="82294"/>
                  <a:pt x="5790" y="62644"/>
                </a:cubicBezTo>
                <a:cubicBezTo>
                  <a:pt x="5790" y="40858"/>
                  <a:pt x="23487" y="23161"/>
                  <a:pt x="45273" y="23161"/>
                </a:cubicBezTo>
                <a:lnTo>
                  <a:pt x="49217" y="23161"/>
                </a:lnTo>
                <a:lnTo>
                  <a:pt x="49217" y="86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6909099" y="3891064"/>
            <a:ext cx="195479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Damage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3233" y="4372815"/>
            <a:ext cx="5391903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causes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financial harm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market manipulation and consumer deception.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1762" y="5039854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8529" y="18529"/>
                </a:moveTo>
                <a:cubicBezTo>
                  <a:pt x="18529" y="13404"/>
                  <a:pt x="14389" y="9264"/>
                  <a:pt x="9264" y="9264"/>
                </a:cubicBezTo>
                <a:cubicBezTo>
                  <a:pt x="4140" y="9264"/>
                  <a:pt x="0" y="13404"/>
                  <a:pt x="0" y="18529"/>
                </a:cubicBezTo>
                <a:lnTo>
                  <a:pt x="0" y="115805"/>
                </a:lnTo>
                <a:cubicBezTo>
                  <a:pt x="0" y="128602"/>
                  <a:pt x="10365" y="138967"/>
                  <a:pt x="23161" y="138967"/>
                </a:cubicBezTo>
                <a:lnTo>
                  <a:pt x="138967" y="138967"/>
                </a:lnTo>
                <a:cubicBezTo>
                  <a:pt x="144091" y="138967"/>
                  <a:pt x="148231" y="134827"/>
                  <a:pt x="148231" y="129702"/>
                </a:cubicBezTo>
                <a:cubicBezTo>
                  <a:pt x="148231" y="124578"/>
                  <a:pt x="144091" y="120438"/>
                  <a:pt x="138967" y="120438"/>
                </a:cubicBezTo>
                <a:lnTo>
                  <a:pt x="23161" y="120438"/>
                </a:lnTo>
                <a:cubicBezTo>
                  <a:pt x="20613" y="120438"/>
                  <a:pt x="18529" y="118353"/>
                  <a:pt x="18529" y="115805"/>
                </a:cubicBezTo>
                <a:lnTo>
                  <a:pt x="18529" y="18529"/>
                </a:lnTo>
                <a:close/>
                <a:moveTo>
                  <a:pt x="136245" y="43601"/>
                </a:moveTo>
                <a:cubicBezTo>
                  <a:pt x="139864" y="39982"/>
                  <a:pt x="139864" y="34105"/>
                  <a:pt x="136245" y="30486"/>
                </a:cubicBezTo>
                <a:cubicBezTo>
                  <a:pt x="132626" y="26867"/>
                  <a:pt x="126749" y="26867"/>
                  <a:pt x="123130" y="30486"/>
                </a:cubicBezTo>
                <a:lnTo>
                  <a:pt x="92644" y="61001"/>
                </a:lnTo>
                <a:lnTo>
                  <a:pt x="76026" y="44411"/>
                </a:lnTo>
                <a:cubicBezTo>
                  <a:pt x="72407" y="40792"/>
                  <a:pt x="66530" y="40792"/>
                  <a:pt x="62911" y="44411"/>
                </a:cubicBezTo>
                <a:lnTo>
                  <a:pt x="35118" y="72205"/>
                </a:lnTo>
                <a:cubicBezTo>
                  <a:pt x="31499" y="75824"/>
                  <a:pt x="31499" y="81701"/>
                  <a:pt x="35118" y="85320"/>
                </a:cubicBezTo>
                <a:cubicBezTo>
                  <a:pt x="38737" y="88939"/>
                  <a:pt x="44614" y="88939"/>
                  <a:pt x="48233" y="85320"/>
                </a:cubicBezTo>
                <a:lnTo>
                  <a:pt x="69483" y="64069"/>
                </a:lnTo>
                <a:lnTo>
                  <a:pt x="86101" y="80687"/>
                </a:lnTo>
                <a:cubicBezTo>
                  <a:pt x="89720" y="84306"/>
                  <a:pt x="95597" y="84306"/>
                  <a:pt x="99216" y="80687"/>
                </a:cubicBezTo>
                <a:lnTo>
                  <a:pt x="136274" y="4363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2" name="Text 40"/>
          <p:cNvSpPr/>
          <p:nvPr/>
        </p:nvSpPr>
        <p:spPr>
          <a:xfrm>
            <a:off x="6612637" y="5002796"/>
            <a:ext cx="32332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market volatility from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financial rumors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1762" y="5336316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0" y="37058"/>
                </a:moveTo>
                <a:lnTo>
                  <a:pt x="0" y="46322"/>
                </a:lnTo>
                <a:lnTo>
                  <a:pt x="148231" y="46322"/>
                </a:lnTo>
                <a:lnTo>
                  <a:pt x="148231" y="37058"/>
                </a:lnTo>
                <a:cubicBezTo>
                  <a:pt x="148231" y="26838"/>
                  <a:pt x="139922" y="18529"/>
                  <a:pt x="129702" y="18529"/>
                </a:cubicBezTo>
                <a:lnTo>
                  <a:pt x="18529" y="18529"/>
                </a:lnTo>
                <a:cubicBezTo>
                  <a:pt x="8309" y="18529"/>
                  <a:pt x="0" y="26838"/>
                  <a:pt x="0" y="37058"/>
                </a:cubicBezTo>
                <a:close/>
                <a:moveTo>
                  <a:pt x="0" y="60219"/>
                </a:moveTo>
                <a:lnTo>
                  <a:pt x="0" y="111173"/>
                </a:lnTo>
                <a:cubicBezTo>
                  <a:pt x="0" y="121393"/>
                  <a:pt x="8309" y="129702"/>
                  <a:pt x="18529" y="129702"/>
                </a:cubicBezTo>
                <a:lnTo>
                  <a:pt x="129702" y="129702"/>
                </a:lnTo>
                <a:cubicBezTo>
                  <a:pt x="139922" y="129702"/>
                  <a:pt x="148231" y="121393"/>
                  <a:pt x="148231" y="111173"/>
                </a:cubicBezTo>
                <a:lnTo>
                  <a:pt x="148231" y="60219"/>
                </a:lnTo>
                <a:lnTo>
                  <a:pt x="0" y="60219"/>
                </a:lnTo>
                <a:close/>
                <a:moveTo>
                  <a:pt x="18529" y="104225"/>
                </a:moveTo>
                <a:cubicBezTo>
                  <a:pt x="18529" y="100374"/>
                  <a:pt x="21627" y="97277"/>
                  <a:pt x="25477" y="97277"/>
                </a:cubicBezTo>
                <a:lnTo>
                  <a:pt x="39374" y="97277"/>
                </a:lnTo>
                <a:cubicBezTo>
                  <a:pt x="43224" y="97277"/>
                  <a:pt x="46322" y="100374"/>
                  <a:pt x="46322" y="104225"/>
                </a:cubicBezTo>
                <a:cubicBezTo>
                  <a:pt x="46322" y="108075"/>
                  <a:pt x="43224" y="111173"/>
                  <a:pt x="39374" y="111173"/>
                </a:cubicBezTo>
                <a:lnTo>
                  <a:pt x="25477" y="111173"/>
                </a:lnTo>
                <a:cubicBezTo>
                  <a:pt x="21627" y="111173"/>
                  <a:pt x="18529" y="108075"/>
                  <a:pt x="18529" y="104225"/>
                </a:cubicBezTo>
                <a:close/>
                <a:moveTo>
                  <a:pt x="60219" y="104225"/>
                </a:moveTo>
                <a:cubicBezTo>
                  <a:pt x="60219" y="100374"/>
                  <a:pt x="63317" y="97277"/>
                  <a:pt x="67167" y="97277"/>
                </a:cubicBezTo>
                <a:lnTo>
                  <a:pt x="85696" y="97277"/>
                </a:lnTo>
                <a:cubicBezTo>
                  <a:pt x="89547" y="97277"/>
                  <a:pt x="92644" y="100374"/>
                  <a:pt x="92644" y="104225"/>
                </a:cubicBezTo>
                <a:cubicBezTo>
                  <a:pt x="92644" y="108075"/>
                  <a:pt x="89547" y="111173"/>
                  <a:pt x="85696" y="111173"/>
                </a:cubicBezTo>
                <a:lnTo>
                  <a:pt x="67167" y="111173"/>
                </a:lnTo>
                <a:cubicBezTo>
                  <a:pt x="63317" y="111173"/>
                  <a:pt x="60219" y="108075"/>
                  <a:pt x="60219" y="104225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4" name="Text 42"/>
          <p:cNvSpPr/>
          <p:nvPr/>
        </p:nvSpPr>
        <p:spPr>
          <a:xfrm>
            <a:off x="6612637" y="5299258"/>
            <a:ext cx="358533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Cryptocurrency scams and </a:t>
            </a:r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pump-and-dump schemes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9106" y="5818067"/>
            <a:ext cx="11432316" cy="667040"/>
          </a:xfrm>
          <a:custGeom>
            <a:avLst/>
            <a:gdLst/>
            <a:ahLst/>
            <a:cxnLst/>
            <a:rect l="l" t="t" r="r" b="b"/>
            <a:pathLst>
              <a:path w="11432316" h="667040">
                <a:moveTo>
                  <a:pt x="0" y="0"/>
                </a:moveTo>
                <a:lnTo>
                  <a:pt x="11432316" y="0"/>
                </a:lnTo>
                <a:lnTo>
                  <a:pt x="11432316" y="667040"/>
                </a:lnTo>
                <a:lnTo>
                  <a:pt x="0" y="667040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89106" y="5818067"/>
            <a:ext cx="37058" cy="667040"/>
          </a:xfrm>
          <a:custGeom>
            <a:avLst/>
            <a:gdLst/>
            <a:ahLst/>
            <a:cxnLst/>
            <a:rect l="l" t="t" r="r" b="b"/>
            <a:pathLst>
              <a:path w="37058" h="667040">
                <a:moveTo>
                  <a:pt x="0" y="0"/>
                </a:moveTo>
                <a:lnTo>
                  <a:pt x="37058" y="0"/>
                </a:lnTo>
                <a:lnTo>
                  <a:pt x="37058" y="667040"/>
                </a:lnTo>
                <a:lnTo>
                  <a:pt x="0" y="66704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7" name="Shape 45"/>
          <p:cNvSpPr/>
          <p:nvPr/>
        </p:nvSpPr>
        <p:spPr>
          <a:xfrm>
            <a:off x="583660" y="604041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1173" y="222347"/>
                </a:moveTo>
                <a:cubicBezTo>
                  <a:pt x="172531" y="222347"/>
                  <a:pt x="222347" y="172531"/>
                  <a:pt x="222347" y="111173"/>
                </a:cubicBezTo>
                <a:cubicBezTo>
                  <a:pt x="222347" y="49815"/>
                  <a:pt x="172531" y="0"/>
                  <a:pt x="111173" y="0"/>
                </a:cubicBezTo>
                <a:cubicBezTo>
                  <a:pt x="49815" y="0"/>
                  <a:pt x="0" y="49815"/>
                  <a:pt x="0" y="111173"/>
                </a:cubicBezTo>
                <a:cubicBezTo>
                  <a:pt x="0" y="172531"/>
                  <a:pt x="49815" y="222347"/>
                  <a:pt x="111173" y="222347"/>
                </a:cubicBezTo>
                <a:close/>
                <a:moveTo>
                  <a:pt x="111173" y="59061"/>
                </a:moveTo>
                <a:cubicBezTo>
                  <a:pt x="116949" y="59061"/>
                  <a:pt x="121596" y="63707"/>
                  <a:pt x="121596" y="69483"/>
                </a:cubicBezTo>
                <a:lnTo>
                  <a:pt x="121596" y="118122"/>
                </a:lnTo>
                <a:cubicBezTo>
                  <a:pt x="121596" y="123897"/>
                  <a:pt x="116949" y="128544"/>
                  <a:pt x="111173" y="128544"/>
                </a:cubicBezTo>
                <a:cubicBezTo>
                  <a:pt x="105397" y="128544"/>
                  <a:pt x="100751" y="123897"/>
                  <a:pt x="100751" y="118122"/>
                </a:cubicBezTo>
                <a:lnTo>
                  <a:pt x="100751" y="69483"/>
                </a:lnTo>
                <a:cubicBezTo>
                  <a:pt x="100751" y="63707"/>
                  <a:pt x="105397" y="59061"/>
                  <a:pt x="111173" y="59061"/>
                </a:cubicBezTo>
                <a:close/>
                <a:moveTo>
                  <a:pt x="99578" y="152863"/>
                </a:moveTo>
                <a:cubicBezTo>
                  <a:pt x="99314" y="148559"/>
                  <a:pt x="101461" y="144464"/>
                  <a:pt x="105150" y="142233"/>
                </a:cubicBezTo>
                <a:cubicBezTo>
                  <a:pt x="108840" y="140001"/>
                  <a:pt x="113463" y="140001"/>
                  <a:pt x="117153" y="142233"/>
                </a:cubicBezTo>
                <a:cubicBezTo>
                  <a:pt x="120842" y="144464"/>
                  <a:pt x="122989" y="148559"/>
                  <a:pt x="122725" y="152863"/>
                </a:cubicBezTo>
                <a:cubicBezTo>
                  <a:pt x="122989" y="157167"/>
                  <a:pt x="120842" y="161262"/>
                  <a:pt x="117153" y="163494"/>
                </a:cubicBezTo>
                <a:cubicBezTo>
                  <a:pt x="113463" y="165725"/>
                  <a:pt x="108840" y="165725"/>
                  <a:pt x="105150" y="163494"/>
                </a:cubicBezTo>
                <a:cubicBezTo>
                  <a:pt x="101461" y="161262"/>
                  <a:pt x="99314" y="157167"/>
                  <a:pt x="99578" y="152863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8" name="Text 46"/>
          <p:cNvSpPr/>
          <p:nvPr/>
        </p:nvSpPr>
        <p:spPr>
          <a:xfrm>
            <a:off x="944973" y="5929240"/>
            <a:ext cx="10802334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Finding: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multi-domain impact 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feedback loops. Health misinformation affects politics, political misinformation affects markets, and economic misinformation affects social cohesion.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ntelligenthq.com/7c9ec59cacb4a2acfbc5e28bdb663c25afb7d2d2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630" b="63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76363"/>
            <a:ext cx="1866900" cy="419100"/>
          </a:xfrm>
          <a:custGeom>
            <a:avLst/>
            <a:gdLst/>
            <a:ahLst/>
            <a:cxnLst/>
            <a:rect l="l" t="t" r="r" b="b"/>
            <a:pathLst>
              <a:path w="1866900" h="419100">
                <a:moveTo>
                  <a:pt x="0" y="0"/>
                </a:moveTo>
                <a:lnTo>
                  <a:pt x="1866900" y="0"/>
                </a:lnTo>
                <a:lnTo>
                  <a:pt x="18669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7636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52563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2406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87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706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1101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Technological and analytical approaches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Detection Technologies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approaches achieving up to 96.5% accuracy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5619750" cy="2590800"/>
          </a:xfrm>
          <a:custGeom>
            <a:avLst/>
            <a:gdLst/>
            <a:ahLst/>
            <a:cxnLst/>
            <a:rect l="l" t="t" r="r" b="b"/>
            <a:pathLst>
              <a:path w="5619750" h="2590800">
                <a:moveTo>
                  <a:pt x="0" y="0"/>
                </a:moveTo>
                <a:lnTo>
                  <a:pt x="5619750" y="0"/>
                </a:lnTo>
                <a:lnTo>
                  <a:pt x="561975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6210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7145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955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AI integrates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data modalities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detect subtle inconsistencies across text, images, videos, and audio.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705100"/>
            <a:ext cx="2609850" cy="609600"/>
          </a:xfrm>
          <a:custGeom>
            <a:avLst/>
            <a:gdLst/>
            <a:ahLst/>
            <a:cxnLst/>
            <a:rect l="l" t="t" r="r" b="b"/>
            <a:pathLst>
              <a:path w="2609850" h="60960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571500"/>
                </a:lnTo>
                <a:cubicBezTo>
                  <a:pt x="2609850" y="592528"/>
                  <a:pt x="2592778" y="609600"/>
                  <a:pt x="25717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6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862" y="15091"/>
                </a:moveTo>
                <a:cubicBezTo>
                  <a:pt x="83314" y="11698"/>
                  <a:pt x="79921" y="9525"/>
                  <a:pt x="76200" y="9525"/>
                </a:cubicBezTo>
                <a:cubicBezTo>
                  <a:pt x="72479" y="9525"/>
                  <a:pt x="69086" y="11698"/>
                  <a:pt x="67538" y="15091"/>
                </a:cubicBezTo>
                <a:lnTo>
                  <a:pt x="17711" y="123825"/>
                </a:lnTo>
                <a:lnTo>
                  <a:pt x="14288" y="123825"/>
                </a:lnTo>
                <a:cubicBezTo>
                  <a:pt x="9019" y="123825"/>
                  <a:pt x="4763" y="128081"/>
                  <a:pt x="4763" y="133350"/>
                </a:cubicBezTo>
                <a:cubicBezTo>
                  <a:pt x="4763" y="138619"/>
                  <a:pt x="9019" y="142875"/>
                  <a:pt x="14288" y="142875"/>
                </a:cubicBezTo>
                <a:lnTo>
                  <a:pt x="40481" y="142875"/>
                </a:lnTo>
                <a:cubicBezTo>
                  <a:pt x="45750" y="142875"/>
                  <a:pt x="50006" y="138619"/>
                  <a:pt x="50006" y="133350"/>
                </a:cubicBezTo>
                <a:cubicBezTo>
                  <a:pt x="50006" y="128081"/>
                  <a:pt x="45750" y="123825"/>
                  <a:pt x="40481" y="123825"/>
                </a:cubicBezTo>
                <a:lnTo>
                  <a:pt x="38666" y="123825"/>
                </a:lnTo>
                <a:lnTo>
                  <a:pt x="45214" y="109537"/>
                </a:lnTo>
                <a:lnTo>
                  <a:pt x="107216" y="109537"/>
                </a:lnTo>
                <a:lnTo>
                  <a:pt x="113764" y="123825"/>
                </a:lnTo>
                <a:lnTo>
                  <a:pt x="111949" y="123825"/>
                </a:lnTo>
                <a:cubicBezTo>
                  <a:pt x="106680" y="123825"/>
                  <a:pt x="102424" y="128081"/>
                  <a:pt x="102424" y="133350"/>
                </a:cubicBezTo>
                <a:cubicBezTo>
                  <a:pt x="102424" y="138619"/>
                  <a:pt x="106680" y="142875"/>
                  <a:pt x="111949" y="142875"/>
                </a:cubicBezTo>
                <a:lnTo>
                  <a:pt x="138142" y="142875"/>
                </a:lnTo>
                <a:cubicBezTo>
                  <a:pt x="143411" y="142875"/>
                  <a:pt x="147667" y="138619"/>
                  <a:pt x="147667" y="133350"/>
                </a:cubicBezTo>
                <a:cubicBezTo>
                  <a:pt x="147667" y="128081"/>
                  <a:pt x="143411" y="123825"/>
                  <a:pt x="138142" y="123825"/>
                </a:cubicBezTo>
                <a:lnTo>
                  <a:pt x="134719" y="123825"/>
                </a:lnTo>
                <a:lnTo>
                  <a:pt x="84892" y="15091"/>
                </a:lnTo>
                <a:close/>
                <a:moveTo>
                  <a:pt x="98465" y="90488"/>
                </a:moveTo>
                <a:lnTo>
                  <a:pt x="53935" y="90488"/>
                </a:lnTo>
                <a:lnTo>
                  <a:pt x="76200" y="41910"/>
                </a:lnTo>
                <a:lnTo>
                  <a:pt x="98465" y="90488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81300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" y="30480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BERT, RoBERTa, GPT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7550" y="2705100"/>
            <a:ext cx="2609850" cy="609600"/>
          </a:xfrm>
          <a:custGeom>
            <a:avLst/>
            <a:gdLst/>
            <a:ahLst/>
            <a:cxnLst/>
            <a:rect l="l" t="t" r="r" b="b"/>
            <a:pathLst>
              <a:path w="2609850" h="60960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571500"/>
                </a:lnTo>
                <a:cubicBezTo>
                  <a:pt x="2609850" y="592528"/>
                  <a:pt x="2592778" y="609600"/>
                  <a:pt x="25717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62325" y="2819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16" name="Text 14"/>
          <p:cNvSpPr/>
          <p:nvPr/>
        </p:nvSpPr>
        <p:spPr>
          <a:xfrm>
            <a:off x="3600450" y="2781300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3750" y="30480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ResNet, Vision Transformers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3390900"/>
            <a:ext cx="2609850" cy="609600"/>
          </a:xfrm>
          <a:custGeom>
            <a:avLst/>
            <a:gdLst/>
            <a:ahLst/>
            <a:cxnLst/>
            <a:rect l="l" t="t" r="r" b="b"/>
            <a:pathLst>
              <a:path w="2609850" h="60960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571500"/>
                </a:lnTo>
                <a:cubicBezTo>
                  <a:pt x="2609850" y="592528"/>
                  <a:pt x="2592778" y="609600"/>
                  <a:pt x="25717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7225" y="3505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67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37338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SlowFast, 3D-CNNs, CLIP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57550" y="3390900"/>
            <a:ext cx="2609850" cy="609600"/>
          </a:xfrm>
          <a:custGeom>
            <a:avLst/>
            <a:gdLst/>
            <a:ahLst/>
            <a:cxnLst/>
            <a:rect l="l" t="t" r="r" b="b"/>
            <a:pathLst>
              <a:path w="2609850" h="60960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571500"/>
                </a:lnTo>
                <a:cubicBezTo>
                  <a:pt x="2609850" y="592528"/>
                  <a:pt x="2592778" y="609600"/>
                  <a:pt x="25717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3750" y="35052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58829" y="9674"/>
                </a:moveTo>
                <a:cubicBezTo>
                  <a:pt x="155764" y="7174"/>
                  <a:pt x="151269" y="7650"/>
                  <a:pt x="148769" y="10716"/>
                </a:cubicBezTo>
                <a:cubicBezTo>
                  <a:pt x="146268" y="13781"/>
                  <a:pt x="146745" y="18276"/>
                  <a:pt x="149810" y="20776"/>
                </a:cubicBezTo>
                <a:cubicBezTo>
                  <a:pt x="165943" y="33873"/>
                  <a:pt x="176212" y="53816"/>
                  <a:pt x="176212" y="76200"/>
                </a:cubicBezTo>
                <a:cubicBezTo>
                  <a:pt x="176212" y="98584"/>
                  <a:pt x="165943" y="118527"/>
                  <a:pt x="149810" y="131653"/>
                </a:cubicBezTo>
                <a:cubicBezTo>
                  <a:pt x="146745" y="134154"/>
                  <a:pt x="146298" y="138648"/>
                  <a:pt x="148769" y="141714"/>
                </a:cubicBezTo>
                <a:cubicBezTo>
                  <a:pt x="151239" y="144780"/>
                  <a:pt x="155764" y="145226"/>
                  <a:pt x="158829" y="142756"/>
                </a:cubicBezTo>
                <a:cubicBezTo>
                  <a:pt x="178147" y="127010"/>
                  <a:pt x="190500" y="103049"/>
                  <a:pt x="190500" y="76200"/>
                </a:cubicBezTo>
                <a:cubicBezTo>
                  <a:pt x="190500" y="49351"/>
                  <a:pt x="178147" y="25360"/>
                  <a:pt x="158829" y="9674"/>
                </a:cubicBezTo>
                <a:close/>
                <a:moveTo>
                  <a:pt x="140821" y="31849"/>
                </a:moveTo>
                <a:cubicBezTo>
                  <a:pt x="137755" y="29349"/>
                  <a:pt x="133261" y="29825"/>
                  <a:pt x="130760" y="32891"/>
                </a:cubicBezTo>
                <a:cubicBezTo>
                  <a:pt x="128260" y="35957"/>
                  <a:pt x="128736" y="40451"/>
                  <a:pt x="131802" y="42952"/>
                </a:cubicBezTo>
                <a:cubicBezTo>
                  <a:pt x="141476" y="50810"/>
                  <a:pt x="147638" y="62776"/>
                  <a:pt x="147638" y="76200"/>
                </a:cubicBezTo>
                <a:cubicBezTo>
                  <a:pt x="147638" y="89624"/>
                  <a:pt x="141476" y="101590"/>
                  <a:pt x="131802" y="109478"/>
                </a:cubicBezTo>
                <a:cubicBezTo>
                  <a:pt x="128736" y="111978"/>
                  <a:pt x="128290" y="116473"/>
                  <a:pt x="130760" y="119539"/>
                </a:cubicBezTo>
                <a:cubicBezTo>
                  <a:pt x="133231" y="122605"/>
                  <a:pt x="137755" y="123051"/>
                  <a:pt x="140821" y="120581"/>
                </a:cubicBezTo>
                <a:cubicBezTo>
                  <a:pt x="153680" y="110103"/>
                  <a:pt x="161925" y="94119"/>
                  <a:pt x="161925" y="76230"/>
                </a:cubicBezTo>
                <a:cubicBezTo>
                  <a:pt x="161925" y="58341"/>
                  <a:pt x="153680" y="42356"/>
                  <a:pt x="140821" y="31879"/>
                </a:cubicBezTo>
                <a:close/>
                <a:moveTo>
                  <a:pt x="122813" y="54025"/>
                </a:moveTo>
                <a:cubicBezTo>
                  <a:pt x="119747" y="51524"/>
                  <a:pt x="115253" y="52001"/>
                  <a:pt x="112752" y="55066"/>
                </a:cubicBezTo>
                <a:cubicBezTo>
                  <a:pt x="110252" y="58132"/>
                  <a:pt x="110728" y="62627"/>
                  <a:pt x="113794" y="65127"/>
                </a:cubicBezTo>
                <a:cubicBezTo>
                  <a:pt x="117009" y="67747"/>
                  <a:pt x="119062" y="71735"/>
                  <a:pt x="119062" y="76200"/>
                </a:cubicBezTo>
                <a:cubicBezTo>
                  <a:pt x="119062" y="80665"/>
                  <a:pt x="117009" y="84653"/>
                  <a:pt x="113794" y="87303"/>
                </a:cubicBezTo>
                <a:cubicBezTo>
                  <a:pt x="110728" y="89803"/>
                  <a:pt x="110282" y="94298"/>
                  <a:pt x="112752" y="97363"/>
                </a:cubicBezTo>
                <a:cubicBezTo>
                  <a:pt x="115223" y="100429"/>
                  <a:pt x="119747" y="100876"/>
                  <a:pt x="122813" y="98405"/>
                </a:cubicBezTo>
                <a:cubicBezTo>
                  <a:pt x="129213" y="93137"/>
                  <a:pt x="133350" y="85159"/>
                  <a:pt x="133350" y="76200"/>
                </a:cubicBezTo>
                <a:cubicBezTo>
                  <a:pt x="133350" y="67241"/>
                  <a:pt x="129213" y="59263"/>
                  <a:pt x="122813" y="54025"/>
                </a:cubicBezTo>
                <a:close/>
                <a:moveTo>
                  <a:pt x="23813" y="104775"/>
                </a:moveTo>
                <a:lnTo>
                  <a:pt x="38100" y="104775"/>
                </a:lnTo>
                <a:lnTo>
                  <a:pt x="78016" y="140256"/>
                </a:lnTo>
                <a:cubicBezTo>
                  <a:pt x="79921" y="141952"/>
                  <a:pt x="82361" y="142875"/>
                  <a:pt x="84892" y="142875"/>
                </a:cubicBezTo>
                <a:cubicBezTo>
                  <a:pt x="90607" y="142875"/>
                  <a:pt x="95250" y="138232"/>
                  <a:pt x="95250" y="132517"/>
                </a:cubicBezTo>
                <a:lnTo>
                  <a:pt x="95250" y="19883"/>
                </a:lnTo>
                <a:cubicBezTo>
                  <a:pt x="95250" y="14168"/>
                  <a:pt x="90607" y="9525"/>
                  <a:pt x="84892" y="9525"/>
                </a:cubicBezTo>
                <a:cubicBezTo>
                  <a:pt x="82361" y="9525"/>
                  <a:pt x="79921" y="10448"/>
                  <a:pt x="78016" y="12144"/>
                </a:cubicBezTo>
                <a:lnTo>
                  <a:pt x="38100" y="47625"/>
                </a:lnTo>
                <a:lnTo>
                  <a:pt x="23813" y="47625"/>
                </a:lnTo>
                <a:cubicBezTo>
                  <a:pt x="15925" y="47625"/>
                  <a:pt x="9525" y="54025"/>
                  <a:pt x="9525" y="61912"/>
                </a:cubicBezTo>
                <a:lnTo>
                  <a:pt x="9525" y="90488"/>
                </a:lnTo>
                <a:cubicBezTo>
                  <a:pt x="9525" y="98375"/>
                  <a:pt x="15925" y="104775"/>
                  <a:pt x="23813" y="104775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4" name="Text 22"/>
          <p:cNvSpPr/>
          <p:nvPr/>
        </p:nvSpPr>
        <p:spPr>
          <a:xfrm>
            <a:off x="3600450" y="346710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33750" y="37338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1D-CNNs, ResNet-1D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26720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0" y="0"/>
                </a:moveTo>
                <a:lnTo>
                  <a:pt x="5619750" y="0"/>
                </a:lnTo>
                <a:lnTo>
                  <a:pt x="561975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42672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5313" y="4457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9" name="Text 27"/>
          <p:cNvSpPr/>
          <p:nvPr/>
        </p:nvSpPr>
        <p:spPr>
          <a:xfrm>
            <a:off x="809625" y="44196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Neural Networks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48006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GNNs analyze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propagation patterns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tracking how information spreads through user networks.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1025" y="5448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" y="5410200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relationships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pathways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0550" y="575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" y="571500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influential spreaders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networks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1562100"/>
            <a:ext cx="5619750" cy="2247900"/>
          </a:xfrm>
          <a:custGeom>
            <a:avLst/>
            <a:gdLst/>
            <a:ahLst/>
            <a:cxnLst/>
            <a:rect l="l" t="t" r="r" b="b"/>
            <a:pathLst>
              <a:path w="5619750" h="2247900">
                <a:moveTo>
                  <a:pt x="0" y="0"/>
                </a:moveTo>
                <a:lnTo>
                  <a:pt x="5619750" y="0"/>
                </a:lnTo>
                <a:lnTo>
                  <a:pt x="561975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91250" y="15621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65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8" name="Text 36"/>
          <p:cNvSpPr/>
          <p:nvPr/>
        </p:nvSpPr>
        <p:spPr>
          <a:xfrm>
            <a:off x="6600825" y="17145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Cross-Modal Fusion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2700" y="20955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mechanisms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inconsistencies between modalities, revealing manipulated content.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2700" y="2705100"/>
            <a:ext cx="5295900" cy="952500"/>
          </a:xfrm>
          <a:custGeom>
            <a:avLst/>
            <a:gdLst/>
            <a:ahLst/>
            <a:cxnLst/>
            <a:rect l="l" t="t" r="r" b="b"/>
            <a:pathLst>
              <a:path w="5295900" h="9525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914400"/>
                </a:lnTo>
                <a:cubicBezTo>
                  <a:pt x="5295900" y="935428"/>
                  <a:pt x="5278828" y="952500"/>
                  <a:pt x="52578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77000" y="28194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7000" y="312420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64672" y="312420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visual evidence with textual claims at granular levels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7000" y="3352800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64672" y="3352800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manipulated images paired with misleading headlines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39243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0" y="0"/>
                </a:moveTo>
                <a:lnTo>
                  <a:pt x="5619750" y="0"/>
                </a:lnTo>
                <a:lnTo>
                  <a:pt x="561975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91250" y="392430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8" name="Shape 46"/>
          <p:cNvSpPr/>
          <p:nvPr/>
        </p:nvSpPr>
        <p:spPr>
          <a:xfrm>
            <a:off x="6362700" y="41148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9" name="Text 47"/>
          <p:cNvSpPr/>
          <p:nvPr/>
        </p:nvSpPr>
        <p:spPr>
          <a:xfrm>
            <a:off x="6600825" y="40767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2700" y="44577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bring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 capabilities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complex verification and fact-checking with few-shot learning.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2700" y="5067300"/>
            <a:ext cx="2590800" cy="838200"/>
          </a:xfrm>
          <a:custGeom>
            <a:avLst/>
            <a:gdLst/>
            <a:ahLst/>
            <a:cxnLst/>
            <a:rect l="l" t="t" r="r" b="b"/>
            <a:pathLst>
              <a:path w="2590800" h="838200">
                <a:moveTo>
                  <a:pt x="38096" y="0"/>
                </a:moveTo>
                <a:lnTo>
                  <a:pt x="2552704" y="0"/>
                </a:lnTo>
                <a:cubicBezTo>
                  <a:pt x="2573744" y="0"/>
                  <a:pt x="2590800" y="17056"/>
                  <a:pt x="2590800" y="38096"/>
                </a:cubicBezTo>
                <a:lnTo>
                  <a:pt x="2590800" y="800104"/>
                </a:lnTo>
                <a:cubicBezTo>
                  <a:pt x="2590800" y="821144"/>
                  <a:pt x="2573744" y="838200"/>
                  <a:pt x="255270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38900" y="51435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BERT-Based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38900" y="537210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38900" y="56388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Score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67800" y="5067300"/>
            <a:ext cx="2590800" cy="838200"/>
          </a:xfrm>
          <a:custGeom>
            <a:avLst/>
            <a:gdLst/>
            <a:ahLst/>
            <a:cxnLst/>
            <a:rect l="l" t="t" r="r" b="b"/>
            <a:pathLst>
              <a:path w="2590800" h="838200">
                <a:moveTo>
                  <a:pt x="38096" y="0"/>
                </a:moveTo>
                <a:lnTo>
                  <a:pt x="2552704" y="0"/>
                </a:lnTo>
                <a:cubicBezTo>
                  <a:pt x="2573744" y="0"/>
                  <a:pt x="2590800" y="17056"/>
                  <a:pt x="2590800" y="38096"/>
                </a:cubicBezTo>
                <a:lnTo>
                  <a:pt x="2590800" y="800104"/>
                </a:lnTo>
                <a:cubicBezTo>
                  <a:pt x="2590800" y="821144"/>
                  <a:pt x="2573744" y="838200"/>
                  <a:pt x="255270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0" y="51435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Models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44000" y="537210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96.5%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4000" y="56388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5763" y="621506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0" y="0"/>
                </a:moveTo>
                <a:lnTo>
                  <a:pt x="11420475" y="0"/>
                </a:lnTo>
                <a:lnTo>
                  <a:pt x="114204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 w="12700">
            <a:solidFill>
              <a:srgbClr val="5D6C79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1500" y="6334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1" name="Text 59"/>
          <p:cNvSpPr/>
          <p:nvPr/>
        </p:nvSpPr>
        <p:spPr>
          <a:xfrm>
            <a:off x="942975" y="6334125"/>
            <a:ext cx="965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State-of-the-art models now achieve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96.5% accuracy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benchmark datasets, a dramatic improvement from early models at ~56%.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Credibility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frameworks for evaluating information sources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6886575" cy="4324350"/>
          </a:xfrm>
          <a:custGeom>
            <a:avLst/>
            <a:gdLst/>
            <a:ahLst/>
            <a:cxnLst/>
            <a:rect l="l" t="t" r="r" b="b"/>
            <a:pathLst>
              <a:path w="6886575" h="4324350">
                <a:moveTo>
                  <a:pt x="0" y="0"/>
                </a:moveTo>
                <a:lnTo>
                  <a:pt x="6886575" y="0"/>
                </a:lnTo>
                <a:lnTo>
                  <a:pt x="6886575" y="4324350"/>
                </a:lnTo>
                <a:lnTo>
                  <a:pt x="0" y="432435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62100"/>
            <a:ext cx="38100" cy="4324350"/>
          </a:xfrm>
          <a:custGeom>
            <a:avLst/>
            <a:gdLst/>
            <a:ahLst/>
            <a:cxnLst/>
            <a:rect l="l" t="t" r="r" b="b"/>
            <a:pathLst>
              <a:path w="38100" h="4324350">
                <a:moveTo>
                  <a:pt x="0" y="0"/>
                </a:moveTo>
                <a:lnTo>
                  <a:pt x="38100" y="0"/>
                </a:lnTo>
                <a:lnTo>
                  <a:pt x="38100" y="4324350"/>
                </a:lnTo>
                <a:lnTo>
                  <a:pt x="0" y="432435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Shape 5"/>
          <p:cNvSpPr/>
          <p:nvPr/>
        </p:nvSpPr>
        <p:spPr>
          <a:xfrm>
            <a:off x="628650" y="1752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8" name="Text 6"/>
          <p:cNvSpPr/>
          <p:nvPr/>
        </p:nvSpPr>
        <p:spPr>
          <a:xfrm>
            <a:off x="857250" y="1714500"/>
            <a:ext cx="6391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CRAAP Test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33600"/>
            <a:ext cx="6638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by librarians at California State University, this systematic approach evaluates sources across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critical dimensions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743200"/>
            <a:ext cx="1247775" cy="2990850"/>
          </a:xfrm>
          <a:custGeom>
            <a:avLst/>
            <a:gdLst/>
            <a:ahLst/>
            <a:cxnLst/>
            <a:rect l="l" t="t" r="r" b="b"/>
            <a:pathLst>
              <a:path w="1247775" h="2990850">
                <a:moveTo>
                  <a:pt x="38095" y="0"/>
                </a:moveTo>
                <a:lnTo>
                  <a:pt x="1209680" y="0"/>
                </a:lnTo>
                <a:cubicBezTo>
                  <a:pt x="1230705" y="0"/>
                  <a:pt x="1247775" y="17070"/>
                  <a:pt x="1247775" y="38095"/>
                </a:cubicBezTo>
                <a:lnTo>
                  <a:pt x="1247775" y="2952755"/>
                </a:lnTo>
                <a:cubicBezTo>
                  <a:pt x="1247775" y="2973794"/>
                  <a:pt x="1230719" y="2990850"/>
                  <a:pt x="1209680" y="2990850"/>
                </a:cubicBezTo>
                <a:lnTo>
                  <a:pt x="38095" y="2990850"/>
                </a:lnTo>
                <a:cubicBezTo>
                  <a:pt x="17070" y="2990850"/>
                  <a:pt x="0" y="2973780"/>
                  <a:pt x="0" y="29527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7700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765572" y="2924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647700" y="32766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3543300"/>
            <a:ext cx="11620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Timeliness of information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" y="550545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published?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98898" y="2743200"/>
            <a:ext cx="1247775" cy="2990850"/>
          </a:xfrm>
          <a:custGeom>
            <a:avLst/>
            <a:gdLst/>
            <a:ahLst/>
            <a:cxnLst/>
            <a:rect l="l" t="t" r="r" b="b"/>
            <a:pathLst>
              <a:path w="1247775" h="2990850">
                <a:moveTo>
                  <a:pt x="38095" y="0"/>
                </a:moveTo>
                <a:lnTo>
                  <a:pt x="1209680" y="0"/>
                </a:lnTo>
                <a:cubicBezTo>
                  <a:pt x="1230705" y="0"/>
                  <a:pt x="1247775" y="17070"/>
                  <a:pt x="1247775" y="38095"/>
                </a:cubicBezTo>
                <a:lnTo>
                  <a:pt x="1247775" y="2952755"/>
                </a:lnTo>
                <a:cubicBezTo>
                  <a:pt x="1247775" y="2973794"/>
                  <a:pt x="1230719" y="2990850"/>
                  <a:pt x="1209680" y="2990850"/>
                </a:cubicBezTo>
                <a:lnTo>
                  <a:pt x="38095" y="2990850"/>
                </a:lnTo>
                <a:cubicBezTo>
                  <a:pt x="17070" y="2990850"/>
                  <a:pt x="0" y="2973780"/>
                  <a:pt x="0" y="29527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75098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8" name="Shape 16"/>
          <p:cNvSpPr/>
          <p:nvPr/>
        </p:nvSpPr>
        <p:spPr>
          <a:xfrm>
            <a:off x="2082254" y="2924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1975098" y="32766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75098" y="3543300"/>
            <a:ext cx="11620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 for your needs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75098" y="550545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audience?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26296" y="2743200"/>
            <a:ext cx="1247775" cy="2990850"/>
          </a:xfrm>
          <a:custGeom>
            <a:avLst/>
            <a:gdLst/>
            <a:ahLst/>
            <a:cxnLst/>
            <a:rect l="l" t="t" r="r" b="b"/>
            <a:pathLst>
              <a:path w="1247775" h="2990850">
                <a:moveTo>
                  <a:pt x="38095" y="0"/>
                </a:moveTo>
                <a:lnTo>
                  <a:pt x="1209680" y="0"/>
                </a:lnTo>
                <a:cubicBezTo>
                  <a:pt x="1230705" y="0"/>
                  <a:pt x="1247775" y="17070"/>
                  <a:pt x="1247775" y="38095"/>
                </a:cubicBezTo>
                <a:lnTo>
                  <a:pt x="1247775" y="2952755"/>
                </a:lnTo>
                <a:cubicBezTo>
                  <a:pt x="1247775" y="2973794"/>
                  <a:pt x="1230719" y="2990850"/>
                  <a:pt x="1209680" y="2990850"/>
                </a:cubicBezTo>
                <a:lnTo>
                  <a:pt x="38095" y="2990850"/>
                </a:lnTo>
                <a:cubicBezTo>
                  <a:pt x="17070" y="2990850"/>
                  <a:pt x="0" y="2973780"/>
                  <a:pt x="0" y="29527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02496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0368" y="2924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3302496" y="32766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02496" y="3543300"/>
            <a:ext cx="11620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credibility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02496" y="550545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Credentials?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53694" y="2743200"/>
            <a:ext cx="1247775" cy="2990850"/>
          </a:xfrm>
          <a:custGeom>
            <a:avLst/>
            <a:gdLst/>
            <a:ahLst/>
            <a:cxnLst/>
            <a:rect l="l" t="t" r="r" b="b"/>
            <a:pathLst>
              <a:path w="1247775" h="2990850">
                <a:moveTo>
                  <a:pt x="38095" y="0"/>
                </a:moveTo>
                <a:lnTo>
                  <a:pt x="1209680" y="0"/>
                </a:lnTo>
                <a:cubicBezTo>
                  <a:pt x="1230705" y="0"/>
                  <a:pt x="1247775" y="17070"/>
                  <a:pt x="1247775" y="38095"/>
                </a:cubicBezTo>
                <a:lnTo>
                  <a:pt x="1247775" y="2952755"/>
                </a:lnTo>
                <a:cubicBezTo>
                  <a:pt x="1247775" y="2973794"/>
                  <a:pt x="1230719" y="2990850"/>
                  <a:pt x="1209680" y="2990850"/>
                </a:cubicBezTo>
                <a:lnTo>
                  <a:pt x="38095" y="2990850"/>
                </a:lnTo>
                <a:cubicBezTo>
                  <a:pt x="17070" y="2990850"/>
                  <a:pt x="0" y="2973780"/>
                  <a:pt x="0" y="29527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29894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37050" y="2924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4629894" y="32766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29894" y="3543300"/>
            <a:ext cx="11620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 &amp; truthfulness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29894" y="550545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1092" y="2743200"/>
            <a:ext cx="1247775" cy="2990850"/>
          </a:xfrm>
          <a:custGeom>
            <a:avLst/>
            <a:gdLst/>
            <a:ahLst/>
            <a:cxnLst/>
            <a:rect l="l" t="t" r="r" b="b"/>
            <a:pathLst>
              <a:path w="1247775" h="2990850">
                <a:moveTo>
                  <a:pt x="38095" y="0"/>
                </a:moveTo>
                <a:lnTo>
                  <a:pt x="1209680" y="0"/>
                </a:lnTo>
                <a:cubicBezTo>
                  <a:pt x="1230705" y="0"/>
                  <a:pt x="1247775" y="17070"/>
                  <a:pt x="1247775" y="38095"/>
                </a:cubicBezTo>
                <a:lnTo>
                  <a:pt x="1247775" y="2952755"/>
                </a:lnTo>
                <a:cubicBezTo>
                  <a:pt x="1247775" y="2973794"/>
                  <a:pt x="1230719" y="2990850"/>
                  <a:pt x="1209680" y="2990850"/>
                </a:cubicBezTo>
                <a:lnTo>
                  <a:pt x="38095" y="2990850"/>
                </a:lnTo>
                <a:cubicBezTo>
                  <a:pt x="17070" y="2990850"/>
                  <a:pt x="0" y="2973780"/>
                  <a:pt x="0" y="29527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57292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6" name="Shape 34"/>
          <p:cNvSpPr/>
          <p:nvPr/>
        </p:nvSpPr>
        <p:spPr>
          <a:xfrm>
            <a:off x="6075164" y="2924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21431" y="4789"/>
                  <a:pt x="16643" y="0"/>
                  <a:pt x="10716" y="0"/>
                </a:cubicBezTo>
                <a:cubicBezTo>
                  <a:pt x="4789" y="0"/>
                  <a:pt x="0" y="4789"/>
                  <a:pt x="0" y="10716"/>
                </a:cubicBez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120015"/>
                </a:lnTo>
                <a:lnTo>
                  <a:pt x="42427" y="113720"/>
                </a:lnTo>
                <a:cubicBezTo>
                  <a:pt x="56458" y="109500"/>
                  <a:pt x="71594" y="110806"/>
                  <a:pt x="84687" y="117370"/>
                </a:cubicBezTo>
                <a:cubicBezTo>
                  <a:pt x="98986" y="124536"/>
                  <a:pt x="115662" y="125406"/>
                  <a:pt x="130630" y="119781"/>
                </a:cubicBezTo>
                <a:lnTo>
                  <a:pt x="143054" y="115126"/>
                </a:lnTo>
                <a:cubicBezTo>
                  <a:pt x="147239" y="113552"/>
                  <a:pt x="150019" y="109567"/>
                  <a:pt x="150019" y="105080"/>
                </a:cubicBezTo>
                <a:lnTo>
                  <a:pt x="150019" y="22134"/>
                </a:lnTo>
                <a:cubicBezTo>
                  <a:pt x="150019" y="14433"/>
                  <a:pt x="141915" y="9410"/>
                  <a:pt x="135017" y="12859"/>
                </a:cubicBezTo>
                <a:lnTo>
                  <a:pt x="131065" y="14834"/>
                </a:lnTo>
                <a:cubicBezTo>
                  <a:pt x="116030" y="22369"/>
                  <a:pt x="98316" y="22369"/>
                  <a:pt x="83247" y="14834"/>
                </a:cubicBezTo>
                <a:cubicBezTo>
                  <a:pt x="71058" y="8740"/>
                  <a:pt x="57027" y="7534"/>
                  <a:pt x="44001" y="11452"/>
                </a:cubicBezTo>
                <a:lnTo>
                  <a:pt x="21431" y="18217"/>
                </a:lnTo>
                <a:lnTo>
                  <a:pt x="21431" y="1071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5957292" y="32766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57292" y="3543300"/>
            <a:ext cx="11620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 for existing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57292" y="550545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Biases?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56140" y="1562100"/>
            <a:ext cx="4352925" cy="1866900"/>
          </a:xfrm>
          <a:custGeom>
            <a:avLst/>
            <a:gdLst/>
            <a:ahLst/>
            <a:cxnLst/>
            <a:rect l="l" t="t" r="r" b="b"/>
            <a:pathLst>
              <a:path w="4352925" h="1866900">
                <a:moveTo>
                  <a:pt x="0" y="0"/>
                </a:moveTo>
                <a:lnTo>
                  <a:pt x="4352925" y="0"/>
                </a:lnTo>
                <a:lnTo>
                  <a:pt x="435292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56140" y="156210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2" name="Shape 40"/>
          <p:cNvSpPr/>
          <p:nvPr/>
        </p:nvSpPr>
        <p:spPr>
          <a:xfrm>
            <a:off x="765140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3" name="Text 41"/>
          <p:cNvSpPr/>
          <p:nvPr/>
        </p:nvSpPr>
        <p:spPr>
          <a:xfrm>
            <a:off x="7865715" y="17145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Lateral Reading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27590" y="2095500"/>
            <a:ext cx="4105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fact-checkers' technique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research the source and claims via other sources.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7590" y="2724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6" name="Text 44"/>
          <p:cNvSpPr/>
          <p:nvPr/>
        </p:nvSpPr>
        <p:spPr>
          <a:xfrm>
            <a:off x="7720608" y="27432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32390" y="270510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the source: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Look up site/author credibility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27590" y="304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49" name="Text 47"/>
          <p:cNvSpPr/>
          <p:nvPr/>
        </p:nvSpPr>
        <p:spPr>
          <a:xfrm>
            <a:off x="7707809" y="30670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932390" y="302895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the claims: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 with reliable sources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56140" y="3543300"/>
            <a:ext cx="4352925" cy="2343150"/>
          </a:xfrm>
          <a:custGeom>
            <a:avLst/>
            <a:gdLst/>
            <a:ahLst/>
            <a:cxnLst/>
            <a:rect l="l" t="t" r="r" b="b"/>
            <a:pathLst>
              <a:path w="4352925" h="2343150">
                <a:moveTo>
                  <a:pt x="0" y="0"/>
                </a:moveTo>
                <a:lnTo>
                  <a:pt x="4352925" y="0"/>
                </a:lnTo>
                <a:lnTo>
                  <a:pt x="4352925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6140" y="354330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3" name="Shape 51"/>
          <p:cNvSpPr/>
          <p:nvPr/>
        </p:nvSpPr>
        <p:spPr>
          <a:xfrm>
            <a:off x="7651403" y="3743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4" name="Text 52"/>
          <p:cNvSpPr/>
          <p:nvPr/>
        </p:nvSpPr>
        <p:spPr>
          <a:xfrm>
            <a:off x="7846665" y="3695700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Flags Checklist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4902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14288" y="3192"/>
                  <a:pt x="11095" y="0"/>
                  <a:pt x="7144" y="0"/>
                </a:cubicBezTo>
                <a:cubicBezTo>
                  <a:pt x="3192" y="0"/>
                  <a:pt x="0" y="3192"/>
                  <a:pt x="0" y="7144"/>
                </a:cubicBezTo>
                <a:lnTo>
                  <a:pt x="0" y="107156"/>
                </a:lnTo>
                <a:cubicBezTo>
                  <a:pt x="0" y="111108"/>
                  <a:pt x="3192" y="114300"/>
                  <a:pt x="7144" y="114300"/>
                </a:cubicBezTo>
                <a:cubicBezTo>
                  <a:pt x="11095" y="114300"/>
                  <a:pt x="14288" y="111108"/>
                  <a:pt x="14288" y="107156"/>
                </a:cubicBezTo>
                <a:lnTo>
                  <a:pt x="14288" y="80010"/>
                </a:lnTo>
                <a:lnTo>
                  <a:pt x="28285" y="75813"/>
                </a:lnTo>
                <a:cubicBezTo>
                  <a:pt x="37639" y="73000"/>
                  <a:pt x="47729" y="73871"/>
                  <a:pt x="56458" y="78246"/>
                </a:cubicBezTo>
                <a:cubicBezTo>
                  <a:pt x="65990" y="83024"/>
                  <a:pt x="77108" y="83604"/>
                  <a:pt x="87087" y="79854"/>
                </a:cubicBezTo>
                <a:lnTo>
                  <a:pt x="95369" y="76751"/>
                </a:lnTo>
                <a:cubicBezTo>
                  <a:pt x="98160" y="75701"/>
                  <a:pt x="100013" y="73045"/>
                  <a:pt x="100013" y="70053"/>
                </a:cubicBezTo>
                <a:lnTo>
                  <a:pt x="100013" y="14756"/>
                </a:lnTo>
                <a:cubicBezTo>
                  <a:pt x="100013" y="9622"/>
                  <a:pt x="94610" y="6273"/>
                  <a:pt x="90011" y="8572"/>
                </a:cubicBezTo>
                <a:lnTo>
                  <a:pt x="87377" y="9890"/>
                </a:lnTo>
                <a:cubicBezTo>
                  <a:pt x="77353" y="14913"/>
                  <a:pt x="65544" y="14913"/>
                  <a:pt x="55498" y="9890"/>
                </a:cubicBezTo>
                <a:cubicBezTo>
                  <a:pt x="47372" y="5827"/>
                  <a:pt x="38018" y="5023"/>
                  <a:pt x="29334" y="7635"/>
                </a:cubicBezTo>
                <a:lnTo>
                  <a:pt x="14288" y="12144"/>
                </a:lnTo>
                <a:lnTo>
                  <a:pt x="14288" y="7144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6" name="Text 54"/>
          <p:cNvSpPr/>
          <p:nvPr/>
        </p:nvSpPr>
        <p:spPr>
          <a:xfrm>
            <a:off x="7846665" y="40386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CAPS headlines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649021" y="4305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14288" y="3192"/>
                  <a:pt x="11095" y="0"/>
                  <a:pt x="7144" y="0"/>
                </a:cubicBezTo>
                <a:cubicBezTo>
                  <a:pt x="3192" y="0"/>
                  <a:pt x="0" y="3192"/>
                  <a:pt x="0" y="7144"/>
                </a:cubicBezTo>
                <a:lnTo>
                  <a:pt x="0" y="107156"/>
                </a:lnTo>
                <a:cubicBezTo>
                  <a:pt x="0" y="111108"/>
                  <a:pt x="3192" y="114300"/>
                  <a:pt x="7144" y="114300"/>
                </a:cubicBezTo>
                <a:cubicBezTo>
                  <a:pt x="11095" y="114300"/>
                  <a:pt x="14288" y="111108"/>
                  <a:pt x="14288" y="107156"/>
                </a:cubicBezTo>
                <a:lnTo>
                  <a:pt x="14288" y="80010"/>
                </a:lnTo>
                <a:lnTo>
                  <a:pt x="28285" y="75813"/>
                </a:lnTo>
                <a:cubicBezTo>
                  <a:pt x="37639" y="73000"/>
                  <a:pt x="47729" y="73871"/>
                  <a:pt x="56458" y="78246"/>
                </a:cubicBezTo>
                <a:cubicBezTo>
                  <a:pt x="65990" y="83024"/>
                  <a:pt x="77108" y="83604"/>
                  <a:pt x="87087" y="79854"/>
                </a:cubicBezTo>
                <a:lnTo>
                  <a:pt x="95369" y="76751"/>
                </a:lnTo>
                <a:cubicBezTo>
                  <a:pt x="98160" y="75701"/>
                  <a:pt x="100013" y="73045"/>
                  <a:pt x="100013" y="70053"/>
                </a:cubicBezTo>
                <a:lnTo>
                  <a:pt x="100013" y="14756"/>
                </a:lnTo>
                <a:cubicBezTo>
                  <a:pt x="100013" y="9622"/>
                  <a:pt x="94610" y="6273"/>
                  <a:pt x="90011" y="8572"/>
                </a:cubicBezTo>
                <a:lnTo>
                  <a:pt x="87377" y="9890"/>
                </a:lnTo>
                <a:cubicBezTo>
                  <a:pt x="77353" y="14913"/>
                  <a:pt x="65544" y="14913"/>
                  <a:pt x="55498" y="9890"/>
                </a:cubicBezTo>
                <a:cubicBezTo>
                  <a:pt x="47372" y="5827"/>
                  <a:pt x="38018" y="5023"/>
                  <a:pt x="29334" y="7635"/>
                </a:cubicBezTo>
                <a:lnTo>
                  <a:pt x="14288" y="12144"/>
                </a:lnTo>
                <a:lnTo>
                  <a:pt x="14288" y="7144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8" name="Text 56"/>
          <p:cNvSpPr/>
          <p:nvPr/>
        </p:nvSpPr>
        <p:spPr>
          <a:xfrm>
            <a:off x="7846665" y="42672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manipulation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649021" y="4533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14288" y="3192"/>
                  <a:pt x="11095" y="0"/>
                  <a:pt x="7144" y="0"/>
                </a:cubicBezTo>
                <a:cubicBezTo>
                  <a:pt x="3192" y="0"/>
                  <a:pt x="0" y="3192"/>
                  <a:pt x="0" y="7144"/>
                </a:cubicBezTo>
                <a:lnTo>
                  <a:pt x="0" y="107156"/>
                </a:lnTo>
                <a:cubicBezTo>
                  <a:pt x="0" y="111108"/>
                  <a:pt x="3192" y="114300"/>
                  <a:pt x="7144" y="114300"/>
                </a:cubicBezTo>
                <a:cubicBezTo>
                  <a:pt x="11095" y="114300"/>
                  <a:pt x="14288" y="111108"/>
                  <a:pt x="14288" y="107156"/>
                </a:cubicBezTo>
                <a:lnTo>
                  <a:pt x="14288" y="80010"/>
                </a:lnTo>
                <a:lnTo>
                  <a:pt x="28285" y="75813"/>
                </a:lnTo>
                <a:cubicBezTo>
                  <a:pt x="37639" y="73000"/>
                  <a:pt x="47729" y="73871"/>
                  <a:pt x="56458" y="78246"/>
                </a:cubicBezTo>
                <a:cubicBezTo>
                  <a:pt x="65990" y="83024"/>
                  <a:pt x="77108" y="83604"/>
                  <a:pt x="87087" y="79854"/>
                </a:cubicBezTo>
                <a:lnTo>
                  <a:pt x="95369" y="76751"/>
                </a:lnTo>
                <a:cubicBezTo>
                  <a:pt x="98160" y="75701"/>
                  <a:pt x="100013" y="73045"/>
                  <a:pt x="100013" y="70053"/>
                </a:cubicBezTo>
                <a:lnTo>
                  <a:pt x="100013" y="14756"/>
                </a:lnTo>
                <a:cubicBezTo>
                  <a:pt x="100013" y="9622"/>
                  <a:pt x="94610" y="6273"/>
                  <a:pt x="90011" y="8572"/>
                </a:cubicBezTo>
                <a:lnTo>
                  <a:pt x="87377" y="9890"/>
                </a:lnTo>
                <a:cubicBezTo>
                  <a:pt x="77353" y="14913"/>
                  <a:pt x="65544" y="14913"/>
                  <a:pt x="55498" y="9890"/>
                </a:cubicBezTo>
                <a:cubicBezTo>
                  <a:pt x="47372" y="5827"/>
                  <a:pt x="38018" y="5023"/>
                  <a:pt x="29334" y="7635"/>
                </a:cubicBezTo>
                <a:lnTo>
                  <a:pt x="14288" y="12144"/>
                </a:lnTo>
                <a:lnTo>
                  <a:pt x="14288" y="7144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0" name="Text 58"/>
          <p:cNvSpPr/>
          <p:nvPr/>
        </p:nvSpPr>
        <p:spPr>
          <a:xfrm>
            <a:off x="7846665" y="44958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named authors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85763" y="6005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0" y="0"/>
                </a:moveTo>
                <a:lnTo>
                  <a:pt x="11420475" y="0"/>
                </a:lnTo>
                <a:lnTo>
                  <a:pt x="114204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 w="12700">
            <a:solidFill>
              <a:srgbClr val="5D6C79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213" y="6124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3" name="Text 61"/>
          <p:cNvSpPr/>
          <p:nvPr/>
        </p:nvSpPr>
        <p:spPr>
          <a:xfrm>
            <a:off x="942975" y="6124575"/>
            <a:ext cx="714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 Impact: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Teaching these frameworks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improves discernment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true from false news.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spc="57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Tools and Platforms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079734"/>
            <a:ext cx="1155315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solutions for real-time verification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907" y="1475637"/>
            <a:ext cx="5641612" cy="3293190"/>
          </a:xfrm>
          <a:custGeom>
            <a:avLst/>
            <a:gdLst/>
            <a:ahLst/>
            <a:cxnLst/>
            <a:rect l="l" t="t" r="r" b="b"/>
            <a:pathLst>
              <a:path w="5641612" h="3293190">
                <a:moveTo>
                  <a:pt x="0" y="0"/>
                </a:moveTo>
                <a:lnTo>
                  <a:pt x="5641612" y="0"/>
                </a:lnTo>
                <a:lnTo>
                  <a:pt x="5641612" y="3293190"/>
                </a:lnTo>
                <a:lnTo>
                  <a:pt x="0" y="329319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7907" y="1475637"/>
            <a:ext cx="35991" cy="3293190"/>
          </a:xfrm>
          <a:custGeom>
            <a:avLst/>
            <a:gdLst/>
            <a:ahLst/>
            <a:cxnLst/>
            <a:rect l="l" t="t" r="r" b="b"/>
            <a:pathLst>
              <a:path w="35991" h="3293190">
                <a:moveTo>
                  <a:pt x="0" y="0"/>
                </a:moveTo>
                <a:lnTo>
                  <a:pt x="35991" y="0"/>
                </a:lnTo>
                <a:lnTo>
                  <a:pt x="35991" y="3293190"/>
                </a:lnTo>
                <a:lnTo>
                  <a:pt x="0" y="329319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Shape 5"/>
          <p:cNvSpPr/>
          <p:nvPr/>
        </p:nvSpPr>
        <p:spPr>
          <a:xfrm>
            <a:off x="539867" y="1619601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4" y="0"/>
                </a:lnTo>
                <a:lnTo>
                  <a:pt x="431894" y="431894"/>
                </a:lnTo>
                <a:lnTo>
                  <a:pt x="0" y="431894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8" name="Shape 6"/>
          <p:cNvSpPr/>
          <p:nvPr/>
        </p:nvSpPr>
        <p:spPr>
          <a:xfrm>
            <a:off x="665836" y="1745570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75738" y="92016"/>
                </a:moveTo>
                <a:cubicBezTo>
                  <a:pt x="175738" y="141750"/>
                  <a:pt x="141680" y="177144"/>
                  <a:pt x="91384" y="177144"/>
                </a:cubicBezTo>
                <a:cubicBezTo>
                  <a:pt x="43161" y="177144"/>
                  <a:pt x="4218" y="138200"/>
                  <a:pt x="4218" y="89978"/>
                </a:cubicBezTo>
                <a:cubicBezTo>
                  <a:pt x="4218" y="41755"/>
                  <a:pt x="43161" y="2812"/>
                  <a:pt x="91384" y="2812"/>
                </a:cubicBezTo>
                <a:cubicBezTo>
                  <a:pt x="114862" y="2812"/>
                  <a:pt x="134615" y="11423"/>
                  <a:pt x="149834" y="25623"/>
                </a:cubicBezTo>
                <a:lnTo>
                  <a:pt x="126110" y="48433"/>
                </a:lnTo>
                <a:cubicBezTo>
                  <a:pt x="95074" y="18488"/>
                  <a:pt x="37362" y="40982"/>
                  <a:pt x="37362" y="89978"/>
                </a:cubicBezTo>
                <a:cubicBezTo>
                  <a:pt x="37362" y="120381"/>
                  <a:pt x="61649" y="145019"/>
                  <a:pt x="91384" y="145019"/>
                </a:cubicBezTo>
                <a:cubicBezTo>
                  <a:pt x="125899" y="145019"/>
                  <a:pt x="138833" y="120275"/>
                  <a:pt x="140872" y="107446"/>
                </a:cubicBezTo>
                <a:lnTo>
                  <a:pt x="91384" y="107446"/>
                </a:lnTo>
                <a:lnTo>
                  <a:pt x="91384" y="77465"/>
                </a:lnTo>
                <a:lnTo>
                  <a:pt x="174367" y="77465"/>
                </a:lnTo>
                <a:cubicBezTo>
                  <a:pt x="175176" y="81929"/>
                  <a:pt x="175738" y="86217"/>
                  <a:pt x="175738" y="9201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079734" y="1619601"/>
            <a:ext cx="20604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Fact Check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734" y="1871539"/>
            <a:ext cx="203350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engine integration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867" y="2159469"/>
            <a:ext cx="5335687" cy="566861"/>
          </a:xfrm>
          <a:custGeom>
            <a:avLst/>
            <a:gdLst/>
            <a:ahLst/>
            <a:cxnLst/>
            <a:rect l="l" t="t" r="r" b="b"/>
            <a:pathLst>
              <a:path w="5335687" h="566861">
                <a:moveTo>
                  <a:pt x="35990" y="0"/>
                </a:moveTo>
                <a:lnTo>
                  <a:pt x="5299697" y="0"/>
                </a:lnTo>
                <a:cubicBezTo>
                  <a:pt x="5319574" y="0"/>
                  <a:pt x="5335687" y="16113"/>
                  <a:pt x="5335687" y="35990"/>
                </a:cubicBezTo>
                <a:lnTo>
                  <a:pt x="5335687" y="530871"/>
                </a:lnTo>
                <a:cubicBezTo>
                  <a:pt x="5335687" y="550747"/>
                  <a:pt x="5319574" y="566861"/>
                  <a:pt x="5299697" y="566861"/>
                </a:cubicBezTo>
                <a:lnTo>
                  <a:pt x="35990" y="566861"/>
                </a:lnTo>
                <a:cubicBezTo>
                  <a:pt x="16127" y="566861"/>
                  <a:pt x="0" y="550734"/>
                  <a:pt x="0" y="530871"/>
                </a:cubicBezTo>
                <a:lnTo>
                  <a:pt x="0" y="35990"/>
                </a:lnTo>
                <a:cubicBezTo>
                  <a:pt x="0" y="16127"/>
                  <a:pt x="16127" y="0"/>
                  <a:pt x="359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1849" y="2231451"/>
            <a:ext cx="526370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Check Explorer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1849" y="2483389"/>
            <a:ext cx="5254707" cy="17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engine for fact-checks. Enter a claim to see verdicts from multiple organizations.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867" y="2800561"/>
            <a:ext cx="5335687" cy="566861"/>
          </a:xfrm>
          <a:custGeom>
            <a:avLst/>
            <a:gdLst/>
            <a:ahLst/>
            <a:cxnLst/>
            <a:rect l="l" t="t" r="r" b="b"/>
            <a:pathLst>
              <a:path w="5335687" h="566861">
                <a:moveTo>
                  <a:pt x="35990" y="0"/>
                </a:moveTo>
                <a:lnTo>
                  <a:pt x="5299697" y="0"/>
                </a:lnTo>
                <a:cubicBezTo>
                  <a:pt x="5319574" y="0"/>
                  <a:pt x="5335687" y="16113"/>
                  <a:pt x="5335687" y="35990"/>
                </a:cubicBezTo>
                <a:lnTo>
                  <a:pt x="5335687" y="530871"/>
                </a:lnTo>
                <a:cubicBezTo>
                  <a:pt x="5335687" y="550747"/>
                  <a:pt x="5319574" y="566861"/>
                  <a:pt x="5299697" y="566861"/>
                </a:cubicBezTo>
                <a:lnTo>
                  <a:pt x="35990" y="566861"/>
                </a:lnTo>
                <a:cubicBezTo>
                  <a:pt x="16127" y="566861"/>
                  <a:pt x="0" y="550734"/>
                  <a:pt x="0" y="530871"/>
                </a:cubicBezTo>
                <a:lnTo>
                  <a:pt x="0" y="35990"/>
                </a:lnTo>
                <a:cubicBezTo>
                  <a:pt x="0" y="16127"/>
                  <a:pt x="16127" y="0"/>
                  <a:pt x="359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1849" y="2872543"/>
            <a:ext cx="526370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Check Markup Tool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1849" y="3124481"/>
            <a:ext cx="5254707" cy="17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fact-checkers to add structured data tags for search engines to recognize and display.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7907" y="4880737"/>
            <a:ext cx="5641612" cy="1457641"/>
          </a:xfrm>
          <a:custGeom>
            <a:avLst/>
            <a:gdLst/>
            <a:ahLst/>
            <a:cxnLst/>
            <a:rect l="l" t="t" r="r" b="b"/>
            <a:pathLst>
              <a:path w="5641612" h="1457641">
                <a:moveTo>
                  <a:pt x="0" y="0"/>
                </a:moveTo>
                <a:lnTo>
                  <a:pt x="5641612" y="0"/>
                </a:lnTo>
                <a:lnTo>
                  <a:pt x="5641612" y="1457641"/>
                </a:lnTo>
                <a:lnTo>
                  <a:pt x="0" y="1457641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77907" y="4880737"/>
            <a:ext cx="35991" cy="1457641"/>
          </a:xfrm>
          <a:custGeom>
            <a:avLst/>
            <a:gdLst/>
            <a:ahLst/>
            <a:cxnLst/>
            <a:rect l="l" t="t" r="r" b="b"/>
            <a:pathLst>
              <a:path w="35991" h="1457641">
                <a:moveTo>
                  <a:pt x="0" y="0"/>
                </a:moveTo>
                <a:lnTo>
                  <a:pt x="35991" y="0"/>
                </a:lnTo>
                <a:lnTo>
                  <a:pt x="35991" y="1457641"/>
                </a:lnTo>
                <a:lnTo>
                  <a:pt x="0" y="1457641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867" y="5024701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4" y="0"/>
                </a:lnTo>
                <a:lnTo>
                  <a:pt x="431894" y="431894"/>
                </a:lnTo>
                <a:lnTo>
                  <a:pt x="0" y="431894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4589" y="5150670"/>
            <a:ext cx="202450" cy="179956"/>
          </a:xfrm>
          <a:custGeom>
            <a:avLst/>
            <a:gdLst/>
            <a:ahLst/>
            <a:cxnLst/>
            <a:rect l="l" t="t" r="r" b="b"/>
            <a:pathLst>
              <a:path w="202450" h="179956">
                <a:moveTo>
                  <a:pt x="101225" y="22494"/>
                </a:moveTo>
                <a:cubicBezTo>
                  <a:pt x="138482" y="22494"/>
                  <a:pt x="168708" y="52721"/>
                  <a:pt x="168708" y="89978"/>
                </a:cubicBezTo>
                <a:cubicBezTo>
                  <a:pt x="168708" y="127234"/>
                  <a:pt x="138482" y="157461"/>
                  <a:pt x="101225" y="157461"/>
                </a:cubicBezTo>
                <a:cubicBezTo>
                  <a:pt x="78309" y="157461"/>
                  <a:pt x="58029" y="146038"/>
                  <a:pt x="45832" y="128535"/>
                </a:cubicBezTo>
                <a:cubicBezTo>
                  <a:pt x="42283" y="123438"/>
                  <a:pt x="35253" y="122208"/>
                  <a:pt x="30157" y="125758"/>
                </a:cubicBezTo>
                <a:cubicBezTo>
                  <a:pt x="25060" y="129308"/>
                  <a:pt x="23830" y="136338"/>
                  <a:pt x="27380" y="141434"/>
                </a:cubicBezTo>
                <a:cubicBezTo>
                  <a:pt x="43618" y="164702"/>
                  <a:pt x="70647" y="179956"/>
                  <a:pt x="101225" y="179956"/>
                </a:cubicBezTo>
                <a:cubicBezTo>
                  <a:pt x="150924" y="179956"/>
                  <a:pt x="191203" y="139677"/>
                  <a:pt x="191203" y="89978"/>
                </a:cubicBezTo>
                <a:cubicBezTo>
                  <a:pt x="191203" y="40279"/>
                  <a:pt x="150924" y="0"/>
                  <a:pt x="101225" y="0"/>
                </a:cubicBezTo>
                <a:cubicBezTo>
                  <a:pt x="71104" y="0"/>
                  <a:pt x="44462" y="14797"/>
                  <a:pt x="28118" y="37502"/>
                </a:cubicBezTo>
                <a:lnTo>
                  <a:pt x="28118" y="28118"/>
                </a:lnTo>
                <a:cubicBezTo>
                  <a:pt x="28118" y="21897"/>
                  <a:pt x="23092" y="16871"/>
                  <a:pt x="16871" y="16871"/>
                </a:cubicBezTo>
                <a:cubicBezTo>
                  <a:pt x="10650" y="16871"/>
                  <a:pt x="5624" y="21897"/>
                  <a:pt x="5624" y="28118"/>
                </a:cubicBezTo>
                <a:lnTo>
                  <a:pt x="5624" y="67483"/>
                </a:lnTo>
                <a:cubicBezTo>
                  <a:pt x="5624" y="73705"/>
                  <a:pt x="10650" y="78731"/>
                  <a:pt x="16871" y="78731"/>
                </a:cubicBezTo>
                <a:lnTo>
                  <a:pt x="25517" y="78731"/>
                </a:lnTo>
                <a:cubicBezTo>
                  <a:pt x="25693" y="78731"/>
                  <a:pt x="25869" y="78731"/>
                  <a:pt x="26044" y="78731"/>
                </a:cubicBezTo>
                <a:lnTo>
                  <a:pt x="56271" y="78731"/>
                </a:lnTo>
                <a:cubicBezTo>
                  <a:pt x="62492" y="78731"/>
                  <a:pt x="67519" y="73705"/>
                  <a:pt x="67519" y="67483"/>
                </a:cubicBezTo>
                <a:cubicBezTo>
                  <a:pt x="67519" y="61262"/>
                  <a:pt x="62492" y="56236"/>
                  <a:pt x="56271" y="56236"/>
                </a:cubicBezTo>
                <a:lnTo>
                  <a:pt x="42810" y="56236"/>
                </a:lnTo>
                <a:cubicBezTo>
                  <a:pt x="54444" y="36061"/>
                  <a:pt x="76270" y="22494"/>
                  <a:pt x="101225" y="22494"/>
                </a:cubicBezTo>
                <a:close/>
                <a:moveTo>
                  <a:pt x="109661" y="53424"/>
                </a:moveTo>
                <a:cubicBezTo>
                  <a:pt x="109661" y="48750"/>
                  <a:pt x="105900" y="44989"/>
                  <a:pt x="101225" y="44989"/>
                </a:cubicBezTo>
                <a:cubicBezTo>
                  <a:pt x="96550" y="44989"/>
                  <a:pt x="92790" y="48750"/>
                  <a:pt x="92790" y="53424"/>
                </a:cubicBezTo>
                <a:lnTo>
                  <a:pt x="92790" y="89978"/>
                </a:lnTo>
                <a:cubicBezTo>
                  <a:pt x="92790" y="92227"/>
                  <a:pt x="93668" y="94371"/>
                  <a:pt x="95250" y="95953"/>
                </a:cubicBezTo>
                <a:lnTo>
                  <a:pt x="120556" y="121259"/>
                </a:lnTo>
                <a:cubicBezTo>
                  <a:pt x="123860" y="124563"/>
                  <a:pt x="129203" y="124563"/>
                  <a:pt x="132471" y="121259"/>
                </a:cubicBezTo>
                <a:cubicBezTo>
                  <a:pt x="135740" y="117955"/>
                  <a:pt x="135775" y="112613"/>
                  <a:pt x="132471" y="109344"/>
                </a:cubicBezTo>
                <a:lnTo>
                  <a:pt x="109625" y="86498"/>
                </a:lnTo>
                <a:lnTo>
                  <a:pt x="109625" y="5342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734" y="5024701"/>
            <a:ext cx="250138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Archive.org Wayback Machine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734" y="5276639"/>
            <a:ext cx="247439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web archiving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867" y="5564568"/>
            <a:ext cx="5407669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archived versions of web pages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see if content has been altered.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9867" y="5870493"/>
            <a:ext cx="5335687" cy="323920"/>
          </a:xfrm>
          <a:custGeom>
            <a:avLst/>
            <a:gdLst/>
            <a:ahLst/>
            <a:cxnLst/>
            <a:rect l="l" t="t" r="r" b="b"/>
            <a:pathLst>
              <a:path w="5335687" h="323920">
                <a:moveTo>
                  <a:pt x="35991" y="0"/>
                </a:moveTo>
                <a:lnTo>
                  <a:pt x="5299696" y="0"/>
                </a:lnTo>
                <a:cubicBezTo>
                  <a:pt x="5319573" y="0"/>
                  <a:pt x="5335687" y="16114"/>
                  <a:pt x="5335687" y="35991"/>
                </a:cubicBezTo>
                <a:lnTo>
                  <a:pt x="5335687" y="287930"/>
                </a:lnTo>
                <a:cubicBezTo>
                  <a:pt x="5335687" y="307807"/>
                  <a:pt x="5319573" y="323920"/>
                  <a:pt x="5299696" y="323920"/>
                </a:cubicBezTo>
                <a:lnTo>
                  <a:pt x="35991" y="323920"/>
                </a:lnTo>
                <a:cubicBezTo>
                  <a:pt x="16127" y="323920"/>
                  <a:pt x="0" y="307793"/>
                  <a:pt x="0" y="287930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1849" y="5942475"/>
            <a:ext cx="525470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 deleted content, track page changes, and access removed articles.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4431" y="1475637"/>
            <a:ext cx="5641612" cy="1835548"/>
          </a:xfrm>
          <a:custGeom>
            <a:avLst/>
            <a:gdLst/>
            <a:ahLst/>
            <a:cxnLst/>
            <a:rect l="l" t="t" r="r" b="b"/>
            <a:pathLst>
              <a:path w="5641612" h="1835548">
                <a:moveTo>
                  <a:pt x="0" y="0"/>
                </a:moveTo>
                <a:lnTo>
                  <a:pt x="5641612" y="0"/>
                </a:lnTo>
                <a:lnTo>
                  <a:pt x="5641612" y="1835548"/>
                </a:lnTo>
                <a:lnTo>
                  <a:pt x="0" y="1835548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84431" y="1475637"/>
            <a:ext cx="35991" cy="1835548"/>
          </a:xfrm>
          <a:custGeom>
            <a:avLst/>
            <a:gdLst/>
            <a:ahLst/>
            <a:cxnLst/>
            <a:rect l="l" t="t" r="r" b="b"/>
            <a:pathLst>
              <a:path w="35991" h="1835548">
                <a:moveTo>
                  <a:pt x="0" y="0"/>
                </a:moveTo>
                <a:lnTo>
                  <a:pt x="35991" y="0"/>
                </a:lnTo>
                <a:lnTo>
                  <a:pt x="35991" y="1835548"/>
                </a:lnTo>
                <a:lnTo>
                  <a:pt x="0" y="1835548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6392" y="1619601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4" y="0"/>
                </a:lnTo>
                <a:lnTo>
                  <a:pt x="431894" y="431894"/>
                </a:lnTo>
                <a:lnTo>
                  <a:pt x="0" y="431894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2361" y="1745570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89978" y="0"/>
                </a:moveTo>
                <a:cubicBezTo>
                  <a:pt x="91595" y="0"/>
                  <a:pt x="93211" y="351"/>
                  <a:pt x="94688" y="1019"/>
                </a:cubicBezTo>
                <a:lnTo>
                  <a:pt x="160906" y="29102"/>
                </a:lnTo>
                <a:cubicBezTo>
                  <a:pt x="168638" y="32371"/>
                  <a:pt x="174402" y="39998"/>
                  <a:pt x="174367" y="49207"/>
                </a:cubicBezTo>
                <a:cubicBezTo>
                  <a:pt x="174192" y="84073"/>
                  <a:pt x="159851" y="147866"/>
                  <a:pt x="99292" y="176863"/>
                </a:cubicBezTo>
                <a:cubicBezTo>
                  <a:pt x="93422" y="179675"/>
                  <a:pt x="86604" y="179675"/>
                  <a:pt x="80734" y="176863"/>
                </a:cubicBezTo>
                <a:cubicBezTo>
                  <a:pt x="20140" y="147866"/>
                  <a:pt x="5835" y="84073"/>
                  <a:pt x="5659" y="49207"/>
                </a:cubicBezTo>
                <a:cubicBezTo>
                  <a:pt x="5624" y="39998"/>
                  <a:pt x="11388" y="32371"/>
                  <a:pt x="19120" y="29102"/>
                </a:cubicBezTo>
                <a:lnTo>
                  <a:pt x="85303" y="1019"/>
                </a:lnTo>
                <a:cubicBezTo>
                  <a:pt x="86779" y="351"/>
                  <a:pt x="88361" y="0"/>
                  <a:pt x="89978" y="0"/>
                </a:cubicBezTo>
                <a:close/>
                <a:moveTo>
                  <a:pt x="89978" y="23479"/>
                </a:moveTo>
                <a:lnTo>
                  <a:pt x="89978" y="156372"/>
                </a:lnTo>
                <a:cubicBezTo>
                  <a:pt x="138482" y="132893"/>
                  <a:pt x="151521" y="80875"/>
                  <a:pt x="151838" y="49734"/>
                </a:cubicBezTo>
                <a:lnTo>
                  <a:pt x="89978" y="23514"/>
                </a:lnTo>
                <a:lnTo>
                  <a:pt x="89978" y="2351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6886259" y="1619601"/>
            <a:ext cx="175456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Factual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86259" y="1871539"/>
            <a:ext cx="172757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credibility scoring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46392" y="2159469"/>
            <a:ext cx="5407669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 stories daily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 app, extension, and website, grading articles on credibility factors.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6392" y="2699336"/>
            <a:ext cx="1277686" cy="467885"/>
          </a:xfrm>
          <a:custGeom>
            <a:avLst/>
            <a:gdLst/>
            <a:ahLst/>
            <a:cxnLst/>
            <a:rect l="l" t="t" r="r" b="b"/>
            <a:pathLst>
              <a:path w="1277686" h="467885">
                <a:moveTo>
                  <a:pt x="35990" y="0"/>
                </a:moveTo>
                <a:lnTo>
                  <a:pt x="1241696" y="0"/>
                </a:lnTo>
                <a:cubicBezTo>
                  <a:pt x="1261572" y="0"/>
                  <a:pt x="1277686" y="16113"/>
                  <a:pt x="1277686" y="35990"/>
                </a:cubicBezTo>
                <a:lnTo>
                  <a:pt x="1277686" y="431895"/>
                </a:lnTo>
                <a:cubicBezTo>
                  <a:pt x="1277686" y="451772"/>
                  <a:pt x="1261572" y="467885"/>
                  <a:pt x="1241696" y="467885"/>
                </a:cubicBezTo>
                <a:lnTo>
                  <a:pt x="35990" y="467885"/>
                </a:lnTo>
                <a:cubicBezTo>
                  <a:pt x="16113" y="467885"/>
                  <a:pt x="0" y="451772"/>
                  <a:pt x="0" y="431895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37394" y="2735327"/>
            <a:ext cx="129568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389" y="2987265"/>
            <a:ext cx="125969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Quality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99012" y="2699336"/>
            <a:ext cx="1277686" cy="467885"/>
          </a:xfrm>
          <a:custGeom>
            <a:avLst/>
            <a:gdLst/>
            <a:ahLst/>
            <a:cxnLst/>
            <a:rect l="l" t="t" r="r" b="b"/>
            <a:pathLst>
              <a:path w="1277686" h="467885">
                <a:moveTo>
                  <a:pt x="35990" y="0"/>
                </a:moveTo>
                <a:lnTo>
                  <a:pt x="1241696" y="0"/>
                </a:lnTo>
                <a:cubicBezTo>
                  <a:pt x="1261572" y="0"/>
                  <a:pt x="1277686" y="16113"/>
                  <a:pt x="1277686" y="35990"/>
                </a:cubicBezTo>
                <a:lnTo>
                  <a:pt x="1277686" y="431895"/>
                </a:lnTo>
                <a:cubicBezTo>
                  <a:pt x="1277686" y="451772"/>
                  <a:pt x="1261572" y="467885"/>
                  <a:pt x="1241696" y="467885"/>
                </a:cubicBezTo>
                <a:lnTo>
                  <a:pt x="35990" y="467885"/>
                </a:lnTo>
                <a:cubicBezTo>
                  <a:pt x="16113" y="467885"/>
                  <a:pt x="0" y="451772"/>
                  <a:pt x="0" y="431895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90014" y="2735327"/>
            <a:ext cx="129568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08010" y="2987265"/>
            <a:ext cx="125969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51632" y="2699336"/>
            <a:ext cx="1277686" cy="467885"/>
          </a:xfrm>
          <a:custGeom>
            <a:avLst/>
            <a:gdLst/>
            <a:ahLst/>
            <a:cxnLst/>
            <a:rect l="l" t="t" r="r" b="b"/>
            <a:pathLst>
              <a:path w="1277686" h="467885">
                <a:moveTo>
                  <a:pt x="35990" y="0"/>
                </a:moveTo>
                <a:lnTo>
                  <a:pt x="1241696" y="0"/>
                </a:lnTo>
                <a:cubicBezTo>
                  <a:pt x="1261572" y="0"/>
                  <a:pt x="1277686" y="16113"/>
                  <a:pt x="1277686" y="35990"/>
                </a:cubicBezTo>
                <a:lnTo>
                  <a:pt x="1277686" y="431895"/>
                </a:lnTo>
                <a:cubicBezTo>
                  <a:pt x="1277686" y="451772"/>
                  <a:pt x="1261572" y="467885"/>
                  <a:pt x="1241696" y="467885"/>
                </a:cubicBezTo>
                <a:lnTo>
                  <a:pt x="35990" y="467885"/>
                </a:lnTo>
                <a:cubicBezTo>
                  <a:pt x="16113" y="467885"/>
                  <a:pt x="0" y="451772"/>
                  <a:pt x="0" y="431895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042634" y="2735327"/>
            <a:ext cx="129568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60630" y="2987265"/>
            <a:ext cx="125969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404252" y="2699336"/>
            <a:ext cx="1277686" cy="467885"/>
          </a:xfrm>
          <a:custGeom>
            <a:avLst/>
            <a:gdLst/>
            <a:ahLst/>
            <a:cxnLst/>
            <a:rect l="l" t="t" r="r" b="b"/>
            <a:pathLst>
              <a:path w="1277686" h="467885">
                <a:moveTo>
                  <a:pt x="35990" y="0"/>
                </a:moveTo>
                <a:lnTo>
                  <a:pt x="1241696" y="0"/>
                </a:lnTo>
                <a:cubicBezTo>
                  <a:pt x="1261572" y="0"/>
                  <a:pt x="1277686" y="16113"/>
                  <a:pt x="1277686" y="35990"/>
                </a:cubicBezTo>
                <a:lnTo>
                  <a:pt x="1277686" y="431895"/>
                </a:lnTo>
                <a:cubicBezTo>
                  <a:pt x="1277686" y="451772"/>
                  <a:pt x="1261572" y="467885"/>
                  <a:pt x="1241696" y="467885"/>
                </a:cubicBezTo>
                <a:lnTo>
                  <a:pt x="35990" y="467885"/>
                </a:lnTo>
                <a:cubicBezTo>
                  <a:pt x="16113" y="467885"/>
                  <a:pt x="0" y="451772"/>
                  <a:pt x="0" y="431895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7A80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395255" y="2735327"/>
            <a:ext cx="129568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13250" y="2987265"/>
            <a:ext cx="125969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4431" y="3419159"/>
            <a:ext cx="5641612" cy="1691584"/>
          </a:xfrm>
          <a:custGeom>
            <a:avLst/>
            <a:gdLst/>
            <a:ahLst/>
            <a:cxnLst/>
            <a:rect l="l" t="t" r="r" b="b"/>
            <a:pathLst>
              <a:path w="5641612" h="1691584">
                <a:moveTo>
                  <a:pt x="0" y="0"/>
                </a:moveTo>
                <a:lnTo>
                  <a:pt x="5641612" y="0"/>
                </a:lnTo>
                <a:lnTo>
                  <a:pt x="5641612" y="1691584"/>
                </a:lnTo>
                <a:lnTo>
                  <a:pt x="0" y="1691584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184431" y="3419159"/>
            <a:ext cx="35991" cy="1691584"/>
          </a:xfrm>
          <a:custGeom>
            <a:avLst/>
            <a:gdLst/>
            <a:ahLst/>
            <a:cxnLst/>
            <a:rect l="l" t="t" r="r" b="b"/>
            <a:pathLst>
              <a:path w="35991" h="1691584">
                <a:moveTo>
                  <a:pt x="0" y="0"/>
                </a:moveTo>
                <a:lnTo>
                  <a:pt x="35991" y="0"/>
                </a:lnTo>
                <a:lnTo>
                  <a:pt x="35991" y="1691584"/>
                </a:lnTo>
                <a:lnTo>
                  <a:pt x="0" y="1691584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7" name="Shape 45"/>
          <p:cNvSpPr/>
          <p:nvPr/>
        </p:nvSpPr>
        <p:spPr>
          <a:xfrm>
            <a:off x="6346392" y="3563123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4" y="0"/>
                </a:lnTo>
                <a:lnTo>
                  <a:pt x="431894" y="431894"/>
                </a:lnTo>
                <a:lnTo>
                  <a:pt x="0" y="431894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8" name="Shape 46"/>
          <p:cNvSpPr/>
          <p:nvPr/>
        </p:nvSpPr>
        <p:spPr>
          <a:xfrm>
            <a:off x="6472361" y="3689092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46214" y="73107"/>
                </a:moveTo>
                <a:cubicBezTo>
                  <a:pt x="146214" y="89240"/>
                  <a:pt x="140977" y="104142"/>
                  <a:pt x="132155" y="116233"/>
                </a:cubicBezTo>
                <a:lnTo>
                  <a:pt x="176652" y="160765"/>
                </a:lnTo>
                <a:cubicBezTo>
                  <a:pt x="181045" y="165159"/>
                  <a:pt x="181045" y="172294"/>
                  <a:pt x="176652" y="176687"/>
                </a:cubicBezTo>
                <a:cubicBezTo>
                  <a:pt x="172258" y="181080"/>
                  <a:pt x="165123" y="181080"/>
                  <a:pt x="160730" y="176687"/>
                </a:cubicBezTo>
                <a:lnTo>
                  <a:pt x="116233" y="132155"/>
                </a:lnTo>
                <a:cubicBezTo>
                  <a:pt x="104142" y="140977"/>
                  <a:pt x="89240" y="146214"/>
                  <a:pt x="73107" y="146214"/>
                </a:cubicBezTo>
                <a:cubicBezTo>
                  <a:pt x="32722" y="146214"/>
                  <a:pt x="0" y="113492"/>
                  <a:pt x="0" y="73107"/>
                </a:cubicBezTo>
                <a:cubicBezTo>
                  <a:pt x="0" y="32722"/>
                  <a:pt x="32722" y="0"/>
                  <a:pt x="73107" y="0"/>
                </a:cubicBezTo>
                <a:cubicBezTo>
                  <a:pt x="113492" y="0"/>
                  <a:pt x="146214" y="32722"/>
                  <a:pt x="146214" y="73107"/>
                </a:cubicBezTo>
                <a:close/>
                <a:moveTo>
                  <a:pt x="73107" y="123720"/>
                </a:moveTo>
                <a:cubicBezTo>
                  <a:pt x="101041" y="123720"/>
                  <a:pt x="123720" y="101041"/>
                  <a:pt x="123720" y="73107"/>
                </a:cubicBezTo>
                <a:cubicBezTo>
                  <a:pt x="123720" y="45173"/>
                  <a:pt x="101041" y="22494"/>
                  <a:pt x="73107" y="22494"/>
                </a:cubicBezTo>
                <a:cubicBezTo>
                  <a:pt x="45173" y="22494"/>
                  <a:pt x="22494" y="45173"/>
                  <a:pt x="22494" y="73107"/>
                </a:cubicBezTo>
                <a:cubicBezTo>
                  <a:pt x="22494" y="101041"/>
                  <a:pt x="45173" y="123720"/>
                  <a:pt x="73107" y="12372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6886259" y="3563123"/>
            <a:ext cx="188953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Logically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86259" y="3815061"/>
            <a:ext cx="186254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AI + human fact-checking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46392" y="4102990"/>
            <a:ext cx="5407669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 domains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real-time, combining AI with expert fact-checkers for comprehensive verification.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46392" y="4642858"/>
            <a:ext cx="5335687" cy="323920"/>
          </a:xfrm>
          <a:custGeom>
            <a:avLst/>
            <a:gdLst/>
            <a:ahLst/>
            <a:cxnLst/>
            <a:rect l="l" t="t" r="r" b="b"/>
            <a:pathLst>
              <a:path w="5335687" h="323920">
                <a:moveTo>
                  <a:pt x="35991" y="0"/>
                </a:moveTo>
                <a:lnTo>
                  <a:pt x="5299696" y="0"/>
                </a:lnTo>
                <a:cubicBezTo>
                  <a:pt x="5319573" y="0"/>
                  <a:pt x="5335687" y="16114"/>
                  <a:pt x="5335687" y="35991"/>
                </a:cubicBezTo>
                <a:lnTo>
                  <a:pt x="5335687" y="287930"/>
                </a:lnTo>
                <a:cubicBezTo>
                  <a:pt x="5335687" y="307807"/>
                  <a:pt x="5319573" y="323920"/>
                  <a:pt x="5299696" y="323920"/>
                </a:cubicBezTo>
                <a:lnTo>
                  <a:pt x="35991" y="323920"/>
                </a:lnTo>
                <a:cubicBezTo>
                  <a:pt x="16127" y="323920"/>
                  <a:pt x="0" y="307793"/>
                  <a:pt x="0" y="287930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18374" y="4714840"/>
            <a:ext cx="525470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Specialization:</a:t>
            </a:r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Political claims, image verification, and event analysis.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4431" y="5218716"/>
            <a:ext cx="5641612" cy="1115725"/>
          </a:xfrm>
          <a:custGeom>
            <a:avLst/>
            <a:gdLst/>
            <a:ahLst/>
            <a:cxnLst/>
            <a:rect l="l" t="t" r="r" b="b"/>
            <a:pathLst>
              <a:path w="5641612" h="1115725">
                <a:moveTo>
                  <a:pt x="0" y="0"/>
                </a:moveTo>
                <a:lnTo>
                  <a:pt x="5641612" y="0"/>
                </a:lnTo>
                <a:lnTo>
                  <a:pt x="5641612" y="1115725"/>
                </a:lnTo>
                <a:lnTo>
                  <a:pt x="0" y="1115725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84431" y="5218716"/>
            <a:ext cx="35991" cy="1115725"/>
          </a:xfrm>
          <a:custGeom>
            <a:avLst/>
            <a:gdLst/>
            <a:ahLst/>
            <a:cxnLst/>
            <a:rect l="l" t="t" r="r" b="b"/>
            <a:pathLst>
              <a:path w="35991" h="1115725">
                <a:moveTo>
                  <a:pt x="0" y="0"/>
                </a:moveTo>
                <a:lnTo>
                  <a:pt x="35991" y="0"/>
                </a:lnTo>
                <a:lnTo>
                  <a:pt x="35991" y="1115725"/>
                </a:lnTo>
                <a:lnTo>
                  <a:pt x="0" y="1115725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6" name="Shape 54"/>
          <p:cNvSpPr/>
          <p:nvPr/>
        </p:nvSpPr>
        <p:spPr>
          <a:xfrm>
            <a:off x="6358763" y="5407669"/>
            <a:ext cx="182205" cy="161960"/>
          </a:xfrm>
          <a:custGeom>
            <a:avLst/>
            <a:gdLst/>
            <a:ahLst/>
            <a:cxnLst/>
            <a:rect l="l" t="t" r="r" b="b"/>
            <a:pathLst>
              <a:path w="182205" h="161960">
                <a:moveTo>
                  <a:pt x="30368" y="20245"/>
                </a:moveTo>
                <a:cubicBezTo>
                  <a:pt x="19201" y="20245"/>
                  <a:pt x="10123" y="29324"/>
                  <a:pt x="10123" y="40490"/>
                </a:cubicBezTo>
                <a:lnTo>
                  <a:pt x="10123" y="121470"/>
                </a:lnTo>
                <a:cubicBezTo>
                  <a:pt x="10123" y="132637"/>
                  <a:pt x="19201" y="141715"/>
                  <a:pt x="30368" y="141715"/>
                </a:cubicBezTo>
                <a:lnTo>
                  <a:pt x="111348" y="141715"/>
                </a:lnTo>
                <a:cubicBezTo>
                  <a:pt x="122514" y="141715"/>
                  <a:pt x="131593" y="132637"/>
                  <a:pt x="131593" y="121470"/>
                </a:cubicBezTo>
                <a:lnTo>
                  <a:pt x="131593" y="40490"/>
                </a:lnTo>
                <a:cubicBezTo>
                  <a:pt x="131593" y="29324"/>
                  <a:pt x="122514" y="20245"/>
                  <a:pt x="111348" y="20245"/>
                </a:cubicBezTo>
                <a:lnTo>
                  <a:pt x="30368" y="20245"/>
                </a:lnTo>
                <a:close/>
                <a:moveTo>
                  <a:pt x="146776" y="106286"/>
                </a:moveTo>
                <a:lnTo>
                  <a:pt x="170027" y="124886"/>
                </a:lnTo>
                <a:cubicBezTo>
                  <a:pt x="171355" y="125962"/>
                  <a:pt x="173000" y="126531"/>
                  <a:pt x="174708" y="126531"/>
                </a:cubicBezTo>
                <a:cubicBezTo>
                  <a:pt x="178852" y="126531"/>
                  <a:pt x="182205" y="123178"/>
                  <a:pt x="182205" y="119034"/>
                </a:cubicBezTo>
                <a:lnTo>
                  <a:pt x="182205" y="42926"/>
                </a:lnTo>
                <a:cubicBezTo>
                  <a:pt x="182205" y="38782"/>
                  <a:pt x="178852" y="35429"/>
                  <a:pt x="174708" y="35429"/>
                </a:cubicBezTo>
                <a:cubicBezTo>
                  <a:pt x="173000" y="35429"/>
                  <a:pt x="171355" y="35998"/>
                  <a:pt x="170027" y="37074"/>
                </a:cubicBezTo>
                <a:lnTo>
                  <a:pt x="146776" y="55674"/>
                </a:lnTo>
                <a:lnTo>
                  <a:pt x="146776" y="106286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7" name="Text 55"/>
          <p:cNvSpPr/>
          <p:nvPr/>
        </p:nvSpPr>
        <p:spPr>
          <a:xfrm>
            <a:off x="6553341" y="5362680"/>
            <a:ext cx="520971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 Detection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6392" y="5686601"/>
            <a:ext cx="5407669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tools use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PRNU camera fingerprints 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trace video origins and authenticate content.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64410" y="6450850"/>
            <a:ext cx="11463179" cy="440892"/>
          </a:xfrm>
          <a:custGeom>
            <a:avLst/>
            <a:gdLst/>
            <a:ahLst/>
            <a:cxnLst/>
            <a:rect l="l" t="t" r="r" b="b"/>
            <a:pathLst>
              <a:path w="11463179" h="440892">
                <a:moveTo>
                  <a:pt x="0" y="0"/>
                </a:moveTo>
                <a:lnTo>
                  <a:pt x="11463179" y="0"/>
                </a:lnTo>
                <a:lnTo>
                  <a:pt x="11463179" y="440892"/>
                </a:lnTo>
                <a:lnTo>
                  <a:pt x="0" y="440892"/>
                </a:lnTo>
                <a:lnTo>
                  <a:pt x="0" y="0"/>
                </a:lnTo>
                <a:close/>
              </a:path>
            </a:pathLst>
          </a:custGeom>
          <a:solidFill>
            <a:srgbClr val="5D6C79">
              <a:alpha val="20000"/>
            </a:srgbClr>
          </a:solidFill>
          <a:ln w="12700">
            <a:solidFill>
              <a:srgbClr val="5D6C79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6370" y="6563323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76933" y="40490"/>
                </a:moveTo>
                <a:cubicBezTo>
                  <a:pt x="169932" y="40490"/>
                  <a:pt x="163141" y="42388"/>
                  <a:pt x="157194" y="45847"/>
                </a:cubicBezTo>
                <a:cubicBezTo>
                  <a:pt x="150530" y="39098"/>
                  <a:pt x="142770" y="33446"/>
                  <a:pt x="134208" y="29187"/>
                </a:cubicBezTo>
                <a:cubicBezTo>
                  <a:pt x="146102" y="19064"/>
                  <a:pt x="161243" y="13497"/>
                  <a:pt x="176933" y="13497"/>
                </a:cubicBezTo>
                <a:cubicBezTo>
                  <a:pt x="213374" y="13497"/>
                  <a:pt x="242940" y="43021"/>
                  <a:pt x="242940" y="79504"/>
                </a:cubicBezTo>
                <a:cubicBezTo>
                  <a:pt x="242940" y="97007"/>
                  <a:pt x="235981" y="113794"/>
                  <a:pt x="223623" y="126152"/>
                </a:cubicBezTo>
                <a:lnTo>
                  <a:pt x="193635" y="156140"/>
                </a:lnTo>
                <a:cubicBezTo>
                  <a:pt x="181277" y="168498"/>
                  <a:pt x="164491" y="175457"/>
                  <a:pt x="146987" y="175457"/>
                </a:cubicBezTo>
                <a:cubicBezTo>
                  <a:pt x="110546" y="175457"/>
                  <a:pt x="80980" y="145933"/>
                  <a:pt x="80980" y="109450"/>
                </a:cubicBezTo>
                <a:cubicBezTo>
                  <a:pt x="80980" y="108817"/>
                  <a:pt x="80980" y="108184"/>
                  <a:pt x="81022" y="107552"/>
                </a:cubicBezTo>
                <a:cubicBezTo>
                  <a:pt x="81233" y="100086"/>
                  <a:pt x="87433" y="94224"/>
                  <a:pt x="94899" y="94435"/>
                </a:cubicBezTo>
                <a:cubicBezTo>
                  <a:pt x="102364" y="94645"/>
                  <a:pt x="108226" y="100845"/>
                  <a:pt x="108016" y="108311"/>
                </a:cubicBezTo>
                <a:cubicBezTo>
                  <a:pt x="108016" y="108690"/>
                  <a:pt x="108016" y="109070"/>
                  <a:pt x="108016" y="109407"/>
                </a:cubicBezTo>
                <a:cubicBezTo>
                  <a:pt x="108016" y="130960"/>
                  <a:pt x="125477" y="148421"/>
                  <a:pt x="147029" y="148421"/>
                </a:cubicBezTo>
                <a:cubicBezTo>
                  <a:pt x="157363" y="148421"/>
                  <a:pt x="167274" y="144330"/>
                  <a:pt x="174613" y="136991"/>
                </a:cubicBezTo>
                <a:lnTo>
                  <a:pt x="204601" y="107003"/>
                </a:lnTo>
                <a:cubicBezTo>
                  <a:pt x="211898" y="99707"/>
                  <a:pt x="216031" y="89753"/>
                  <a:pt x="216031" y="79420"/>
                </a:cubicBezTo>
                <a:cubicBezTo>
                  <a:pt x="216031" y="57867"/>
                  <a:pt x="198570" y="40406"/>
                  <a:pt x="177017" y="40406"/>
                </a:cubicBezTo>
                <a:close/>
                <a:moveTo>
                  <a:pt x="116071" y="73093"/>
                </a:moveTo>
                <a:cubicBezTo>
                  <a:pt x="115270" y="72756"/>
                  <a:pt x="114469" y="72292"/>
                  <a:pt x="113752" y="71785"/>
                </a:cubicBezTo>
                <a:cubicBezTo>
                  <a:pt x="108437" y="69044"/>
                  <a:pt x="102364" y="67483"/>
                  <a:pt x="95995" y="67483"/>
                </a:cubicBezTo>
                <a:cubicBezTo>
                  <a:pt x="85662" y="67483"/>
                  <a:pt x="75750" y="71575"/>
                  <a:pt x="68411" y="78913"/>
                </a:cubicBezTo>
                <a:lnTo>
                  <a:pt x="38423" y="108901"/>
                </a:lnTo>
                <a:cubicBezTo>
                  <a:pt x="31127" y="116198"/>
                  <a:pt x="26993" y="126152"/>
                  <a:pt x="26993" y="136485"/>
                </a:cubicBezTo>
                <a:cubicBezTo>
                  <a:pt x="26993" y="158038"/>
                  <a:pt x="44455" y="175499"/>
                  <a:pt x="66007" y="175499"/>
                </a:cubicBezTo>
                <a:cubicBezTo>
                  <a:pt x="72966" y="175499"/>
                  <a:pt x="79757" y="173643"/>
                  <a:pt x="85704" y="170185"/>
                </a:cubicBezTo>
                <a:cubicBezTo>
                  <a:pt x="92368" y="176933"/>
                  <a:pt x="100128" y="182585"/>
                  <a:pt x="108733" y="186845"/>
                </a:cubicBezTo>
                <a:cubicBezTo>
                  <a:pt x="96839" y="196925"/>
                  <a:pt x="81739" y="202535"/>
                  <a:pt x="66007" y="202535"/>
                </a:cubicBezTo>
                <a:cubicBezTo>
                  <a:pt x="29566" y="202535"/>
                  <a:pt x="0" y="173011"/>
                  <a:pt x="0" y="136527"/>
                </a:cubicBezTo>
                <a:cubicBezTo>
                  <a:pt x="0" y="119024"/>
                  <a:pt x="6959" y="102237"/>
                  <a:pt x="19317" y="89879"/>
                </a:cubicBezTo>
                <a:lnTo>
                  <a:pt x="49305" y="59892"/>
                </a:lnTo>
                <a:cubicBezTo>
                  <a:pt x="61663" y="47534"/>
                  <a:pt x="78449" y="40574"/>
                  <a:pt x="95953" y="40574"/>
                </a:cubicBezTo>
                <a:cubicBezTo>
                  <a:pt x="132478" y="40574"/>
                  <a:pt x="161960" y="70351"/>
                  <a:pt x="161960" y="106750"/>
                </a:cubicBezTo>
                <a:cubicBezTo>
                  <a:pt x="161960" y="107299"/>
                  <a:pt x="161960" y="107847"/>
                  <a:pt x="161960" y="108395"/>
                </a:cubicBezTo>
                <a:cubicBezTo>
                  <a:pt x="161791" y="115861"/>
                  <a:pt x="155591" y="121723"/>
                  <a:pt x="148126" y="121554"/>
                </a:cubicBezTo>
                <a:cubicBezTo>
                  <a:pt x="140661" y="121386"/>
                  <a:pt x="134798" y="115186"/>
                  <a:pt x="134967" y="107720"/>
                </a:cubicBezTo>
                <a:cubicBezTo>
                  <a:pt x="134967" y="107383"/>
                  <a:pt x="134967" y="107088"/>
                  <a:pt x="134967" y="106750"/>
                </a:cubicBezTo>
                <a:cubicBezTo>
                  <a:pt x="134967" y="92537"/>
                  <a:pt x="127375" y="80052"/>
                  <a:pt x="116071" y="73177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1" name="Text 59"/>
          <p:cNvSpPr/>
          <p:nvPr/>
        </p:nvSpPr>
        <p:spPr>
          <a:xfrm>
            <a:off x="890781" y="6563323"/>
            <a:ext cx="710825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is Key: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most effective approach combines 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AI screening 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expert verification 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ritingcommons.org/2e080ccf26e864b1a20da9a658be12d55d71150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22010" b="2201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76363"/>
            <a:ext cx="1771650" cy="419100"/>
          </a:xfrm>
          <a:custGeom>
            <a:avLst/>
            <a:gdLst/>
            <a:ahLst/>
            <a:cxnLst/>
            <a:rect l="l" t="t" r="r" b="b"/>
            <a:pathLst>
              <a:path w="1771650" h="419100">
                <a:moveTo>
                  <a:pt x="0" y="0"/>
                </a:moveTo>
                <a:lnTo>
                  <a:pt x="1771650" y="0"/>
                </a:lnTo>
                <a:lnTo>
                  <a:pt x="17716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7636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52563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2406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87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706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1101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resilience against misinformation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STRATEGIES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Literacy Education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approaches to building resilience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6181725" cy="3657600"/>
          </a:xfrm>
          <a:custGeom>
            <a:avLst/>
            <a:gdLst/>
            <a:ahLst/>
            <a:cxnLst/>
            <a:rect l="l" t="t" r="r" b="b"/>
            <a:pathLst>
              <a:path w="6181725" h="3657600">
                <a:moveTo>
                  <a:pt x="0" y="0"/>
                </a:moveTo>
                <a:lnTo>
                  <a:pt x="6181725" y="0"/>
                </a:lnTo>
                <a:lnTo>
                  <a:pt x="6181725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62100"/>
            <a:ext cx="38100" cy="3657600"/>
          </a:xfrm>
          <a:custGeom>
            <a:avLst/>
            <a:gdLst/>
            <a:ahLst/>
            <a:cxnLst/>
            <a:rect l="l" t="t" r="r" b="b"/>
            <a:pathLst>
              <a:path w="38100" h="3657600">
                <a:moveTo>
                  <a:pt x="0" y="0"/>
                </a:moveTo>
                <a:lnTo>
                  <a:pt x="38100" y="0"/>
                </a:lnTo>
                <a:lnTo>
                  <a:pt x="381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7145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Proven Educational Interventions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95500"/>
            <a:ext cx="5934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show that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media literacy education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reduces susceptibility to misinformation.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705100"/>
            <a:ext cx="1876425" cy="914400"/>
          </a:xfrm>
          <a:custGeom>
            <a:avLst/>
            <a:gdLst/>
            <a:ahLst/>
            <a:cxnLst/>
            <a:rect l="l" t="t" r="r" b="b"/>
            <a:pathLst>
              <a:path w="1876425" h="914400">
                <a:moveTo>
                  <a:pt x="38103" y="0"/>
                </a:moveTo>
                <a:lnTo>
                  <a:pt x="1838322" y="0"/>
                </a:lnTo>
                <a:cubicBezTo>
                  <a:pt x="1859366" y="0"/>
                  <a:pt x="1876425" y="17059"/>
                  <a:pt x="1876425" y="38103"/>
                </a:cubicBezTo>
                <a:lnTo>
                  <a:pt x="1876425" y="876297"/>
                </a:lnTo>
                <a:cubicBezTo>
                  <a:pt x="1876425" y="897341"/>
                  <a:pt x="1859366" y="914400"/>
                  <a:pt x="18383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6263" y="2781300"/>
            <a:ext cx="186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363" y="31623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 in discernment accuracy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2820" y="2705100"/>
            <a:ext cx="1876425" cy="914400"/>
          </a:xfrm>
          <a:custGeom>
            <a:avLst/>
            <a:gdLst/>
            <a:ahLst/>
            <a:cxnLst/>
            <a:rect l="l" t="t" r="r" b="b"/>
            <a:pathLst>
              <a:path w="1876425" h="914400">
                <a:moveTo>
                  <a:pt x="38103" y="0"/>
                </a:moveTo>
                <a:lnTo>
                  <a:pt x="1838322" y="0"/>
                </a:lnTo>
                <a:cubicBezTo>
                  <a:pt x="1859366" y="0"/>
                  <a:pt x="1876425" y="17059"/>
                  <a:pt x="1876425" y="38103"/>
                </a:cubicBezTo>
                <a:lnTo>
                  <a:pt x="1876425" y="876297"/>
                </a:lnTo>
                <a:cubicBezTo>
                  <a:pt x="1876425" y="897341"/>
                  <a:pt x="1859366" y="914400"/>
                  <a:pt x="18383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67583" y="2781300"/>
            <a:ext cx="186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+42%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5683" y="31623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in fact-checking behavior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54141" y="2705100"/>
            <a:ext cx="1876425" cy="914400"/>
          </a:xfrm>
          <a:custGeom>
            <a:avLst/>
            <a:gdLst/>
            <a:ahLst/>
            <a:cxnLst/>
            <a:rect l="l" t="t" r="r" b="b"/>
            <a:pathLst>
              <a:path w="1876425" h="914400">
                <a:moveTo>
                  <a:pt x="38103" y="0"/>
                </a:moveTo>
                <a:lnTo>
                  <a:pt x="1838322" y="0"/>
                </a:lnTo>
                <a:cubicBezTo>
                  <a:pt x="1859366" y="0"/>
                  <a:pt x="1876425" y="17059"/>
                  <a:pt x="1876425" y="38103"/>
                </a:cubicBezTo>
                <a:lnTo>
                  <a:pt x="1876425" y="876297"/>
                </a:lnTo>
                <a:cubicBezTo>
                  <a:pt x="1876425" y="897341"/>
                  <a:pt x="1859366" y="914400"/>
                  <a:pt x="183832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58903" y="2781300"/>
            <a:ext cx="186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-28%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7003" y="31623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sharing intent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3733800"/>
            <a:ext cx="5857875" cy="1333500"/>
          </a:xfrm>
          <a:custGeom>
            <a:avLst/>
            <a:gdLst/>
            <a:ahLst/>
            <a:cxnLst/>
            <a:rect l="l" t="t" r="r" b="b"/>
            <a:pathLst>
              <a:path w="5857875" h="1333500">
                <a:moveTo>
                  <a:pt x="38098" y="0"/>
                </a:moveTo>
                <a:lnTo>
                  <a:pt x="5819777" y="0"/>
                </a:lnTo>
                <a:cubicBezTo>
                  <a:pt x="5840818" y="0"/>
                  <a:pt x="5857875" y="17057"/>
                  <a:pt x="5857875" y="38098"/>
                </a:cubicBezTo>
                <a:lnTo>
                  <a:pt x="5857875" y="1295402"/>
                </a:lnTo>
                <a:cubicBezTo>
                  <a:pt x="5857875" y="1316443"/>
                  <a:pt x="5840818" y="1333500"/>
                  <a:pt x="5819777" y="1333500"/>
                </a:cubicBezTo>
                <a:lnTo>
                  <a:pt x="38098" y="1333500"/>
                </a:lnTo>
                <a:cubicBezTo>
                  <a:pt x="17057" y="1333500"/>
                  <a:pt x="0" y="1316443"/>
                  <a:pt x="0" y="12954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48100"/>
            <a:ext cx="570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Educational Components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850" y="4191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4152900"/>
            <a:ext cx="2562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thinking: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Logic, reasoning, cognitive bias recognition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77530" y="4191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4" name="Text 22"/>
          <p:cNvSpPr/>
          <p:nvPr/>
        </p:nvSpPr>
        <p:spPr>
          <a:xfrm>
            <a:off x="3825180" y="4152900"/>
            <a:ext cx="2562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Fact-checking: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techniques, reverse image search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850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5244"/>
                </a:moveTo>
                <a:cubicBezTo>
                  <a:pt x="90657" y="45244"/>
                  <a:pt x="102394" y="33507"/>
                  <a:pt x="102394" y="19050"/>
                </a:cubicBezTo>
                <a:cubicBezTo>
                  <a:pt x="102394" y="4593"/>
                  <a:pt x="90657" y="-7144"/>
                  <a:pt x="76200" y="-7144"/>
                </a:cubicBezTo>
                <a:cubicBezTo>
                  <a:pt x="61743" y="-7144"/>
                  <a:pt x="50006" y="4593"/>
                  <a:pt x="50006" y="19050"/>
                </a:cubicBezTo>
                <a:cubicBezTo>
                  <a:pt x="50006" y="33507"/>
                  <a:pt x="61743" y="45244"/>
                  <a:pt x="76200" y="45244"/>
                </a:cubicBezTo>
                <a:close/>
                <a:moveTo>
                  <a:pt x="76200" y="134154"/>
                </a:moveTo>
                <a:lnTo>
                  <a:pt x="76200" y="89714"/>
                </a:lnTo>
                <a:cubicBezTo>
                  <a:pt x="81052" y="87690"/>
                  <a:pt x="85993" y="85636"/>
                  <a:pt x="90994" y="83552"/>
                </a:cubicBezTo>
                <a:cubicBezTo>
                  <a:pt x="102602" y="78730"/>
                  <a:pt x="115044" y="76230"/>
                  <a:pt x="127635" y="76230"/>
                </a:cubicBezTo>
                <a:lnTo>
                  <a:pt x="133350" y="76230"/>
                </a:lnTo>
                <a:lnTo>
                  <a:pt x="133350" y="123855"/>
                </a:lnTo>
                <a:lnTo>
                  <a:pt x="127635" y="123855"/>
                </a:lnTo>
                <a:cubicBezTo>
                  <a:pt x="110044" y="123855"/>
                  <a:pt x="92601" y="127337"/>
                  <a:pt x="76349" y="134124"/>
                </a:cubicBezTo>
                <a:lnTo>
                  <a:pt x="76200" y="134183"/>
                </a:lnTo>
                <a:close/>
                <a:moveTo>
                  <a:pt x="76200" y="69056"/>
                </a:moveTo>
                <a:lnTo>
                  <a:pt x="68729" y="65931"/>
                </a:lnTo>
                <a:cubicBezTo>
                  <a:pt x="54799" y="60127"/>
                  <a:pt x="39856" y="57150"/>
                  <a:pt x="24765" y="57150"/>
                </a:cubicBez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24765" y="142875"/>
                </a:lnTo>
                <a:cubicBezTo>
                  <a:pt x="39856" y="142875"/>
                  <a:pt x="54799" y="145852"/>
                  <a:pt x="68729" y="151656"/>
                </a:cubicBezTo>
                <a:lnTo>
                  <a:pt x="72539" y="153233"/>
                </a:lnTo>
                <a:cubicBezTo>
                  <a:pt x="74890" y="154216"/>
                  <a:pt x="77510" y="154216"/>
                  <a:pt x="79861" y="153233"/>
                </a:cubicBezTo>
                <a:lnTo>
                  <a:pt x="83671" y="151656"/>
                </a:lnTo>
                <a:cubicBezTo>
                  <a:pt x="97601" y="145852"/>
                  <a:pt x="112544" y="142875"/>
                  <a:pt x="127635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7"/>
                </a:cubicBezTo>
                <a:lnTo>
                  <a:pt x="152400" y="71437"/>
                </a:lnTo>
                <a:cubicBezTo>
                  <a:pt x="152400" y="63550"/>
                  <a:pt x="146000" y="57150"/>
                  <a:pt x="138113" y="57150"/>
                </a:cubicBezTo>
                <a:lnTo>
                  <a:pt x="127635" y="57150"/>
                </a:lnTo>
                <a:cubicBezTo>
                  <a:pt x="112544" y="57150"/>
                  <a:pt x="97601" y="60127"/>
                  <a:pt x="83671" y="65931"/>
                </a:cubicBezTo>
                <a:lnTo>
                  <a:pt x="76200" y="69056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4572000"/>
            <a:ext cx="2562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Lateral reading: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Professional fact-checker methodology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77530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9525"/>
                </a:moveTo>
                <a:cubicBezTo>
                  <a:pt x="85725" y="4256"/>
                  <a:pt x="81469" y="0"/>
                  <a:pt x="76200" y="0"/>
                </a:cubicBezTo>
                <a:cubicBezTo>
                  <a:pt x="70931" y="0"/>
                  <a:pt x="66675" y="4256"/>
                  <a:pt x="66675" y="9525"/>
                </a:cubicBezTo>
                <a:lnTo>
                  <a:pt x="66675" y="71438"/>
                </a:lnTo>
                <a:cubicBezTo>
                  <a:pt x="66675" y="74057"/>
                  <a:pt x="64532" y="76200"/>
                  <a:pt x="61912" y="76200"/>
                </a:cubicBezTo>
                <a:cubicBezTo>
                  <a:pt x="59293" y="76200"/>
                  <a:pt x="57150" y="74057"/>
                  <a:pt x="57150" y="71438"/>
                </a:cubicBezTo>
                <a:lnTo>
                  <a:pt x="57150" y="19050"/>
                </a:lnTo>
                <a:cubicBezTo>
                  <a:pt x="57150" y="13781"/>
                  <a:pt x="52894" y="9525"/>
                  <a:pt x="47625" y="9525"/>
                </a:cubicBezTo>
                <a:cubicBezTo>
                  <a:pt x="42356" y="9525"/>
                  <a:pt x="38100" y="13781"/>
                  <a:pt x="38100" y="19050"/>
                </a:cubicBezTo>
                <a:lnTo>
                  <a:pt x="38100" y="100013"/>
                </a:lnTo>
                <a:cubicBezTo>
                  <a:pt x="38100" y="100459"/>
                  <a:pt x="38100" y="100935"/>
                  <a:pt x="38130" y="101382"/>
                </a:cubicBezTo>
                <a:lnTo>
                  <a:pt x="20122" y="84237"/>
                </a:lnTo>
                <a:cubicBezTo>
                  <a:pt x="15359" y="79712"/>
                  <a:pt x="7828" y="79891"/>
                  <a:pt x="3274" y="84653"/>
                </a:cubicBezTo>
                <a:cubicBezTo>
                  <a:pt x="-1280" y="89416"/>
                  <a:pt x="-1072" y="96947"/>
                  <a:pt x="3691" y="101501"/>
                </a:cubicBezTo>
                <a:lnTo>
                  <a:pt x="37148" y="133350"/>
                </a:lnTo>
                <a:cubicBezTo>
                  <a:pt x="49976" y="145584"/>
                  <a:pt x="67032" y="152400"/>
                  <a:pt x="84773" y="152400"/>
                </a:cubicBezTo>
                <a:lnTo>
                  <a:pt x="90488" y="152400"/>
                </a:lnTo>
                <a:cubicBezTo>
                  <a:pt x="119420" y="152400"/>
                  <a:pt x="142875" y="128945"/>
                  <a:pt x="142875" y="100013"/>
                </a:cubicBezTo>
                <a:lnTo>
                  <a:pt x="142875" y="38100"/>
                </a:lnTo>
                <a:cubicBezTo>
                  <a:pt x="142875" y="32831"/>
                  <a:pt x="138619" y="28575"/>
                  <a:pt x="133350" y="28575"/>
                </a:cubicBezTo>
                <a:cubicBezTo>
                  <a:pt x="128081" y="28575"/>
                  <a:pt x="123825" y="32831"/>
                  <a:pt x="123825" y="38100"/>
                </a:cubicBezTo>
                <a:lnTo>
                  <a:pt x="123825" y="71438"/>
                </a:lnTo>
                <a:cubicBezTo>
                  <a:pt x="123825" y="74057"/>
                  <a:pt x="121682" y="76200"/>
                  <a:pt x="119062" y="76200"/>
                </a:cubicBezTo>
                <a:cubicBezTo>
                  <a:pt x="116443" y="76200"/>
                  <a:pt x="114300" y="74057"/>
                  <a:pt x="114300" y="71438"/>
                </a:cubicBezTo>
                <a:lnTo>
                  <a:pt x="114300" y="19050"/>
                </a:lnTo>
                <a:cubicBezTo>
                  <a:pt x="114300" y="13781"/>
                  <a:pt x="110044" y="9525"/>
                  <a:pt x="104775" y="9525"/>
                </a:cubicBezTo>
                <a:cubicBezTo>
                  <a:pt x="99506" y="9525"/>
                  <a:pt x="95250" y="13781"/>
                  <a:pt x="95250" y="19050"/>
                </a:cubicBezTo>
                <a:lnTo>
                  <a:pt x="95250" y="71438"/>
                </a:lnTo>
                <a:cubicBezTo>
                  <a:pt x="95250" y="74057"/>
                  <a:pt x="93107" y="76200"/>
                  <a:pt x="90488" y="76200"/>
                </a:cubicBezTo>
                <a:cubicBezTo>
                  <a:pt x="87868" y="76200"/>
                  <a:pt x="85725" y="74057"/>
                  <a:pt x="85725" y="71438"/>
                </a:cubicBezTo>
                <a:lnTo>
                  <a:pt x="85725" y="9525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8" name="Text 26"/>
          <p:cNvSpPr/>
          <p:nvPr/>
        </p:nvSpPr>
        <p:spPr>
          <a:xfrm>
            <a:off x="3825180" y="4572000"/>
            <a:ext cx="2562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Responsible sharing: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Pause-before-sharing protocols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334000"/>
            <a:ext cx="6181725" cy="1447800"/>
          </a:xfrm>
          <a:custGeom>
            <a:avLst/>
            <a:gdLst/>
            <a:ahLst/>
            <a:cxnLst/>
            <a:rect l="l" t="t" r="r" b="b"/>
            <a:pathLst>
              <a:path w="6181725" h="1447800">
                <a:moveTo>
                  <a:pt x="0" y="0"/>
                </a:moveTo>
                <a:lnTo>
                  <a:pt x="6181725" y="0"/>
                </a:lnTo>
                <a:lnTo>
                  <a:pt x="6181725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3340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5524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2" name="Text 30"/>
          <p:cNvSpPr/>
          <p:nvPr/>
        </p:nvSpPr>
        <p:spPr>
          <a:xfrm>
            <a:off x="809625" y="54864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Approaches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5867400"/>
            <a:ext cx="5934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prevention requires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multi-stakeholder collaboration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educational institutions, libraries, media, and tech platforms.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1025" y="6477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5" name="Text 33"/>
          <p:cNvSpPr/>
          <p:nvPr/>
        </p:nvSpPr>
        <p:spPr>
          <a:xfrm>
            <a:off x="876300" y="6438900"/>
            <a:ext cx="456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 institutions: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Integrate media literacy into core curricula at all levels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55160" y="1562100"/>
            <a:ext cx="5057775" cy="2590800"/>
          </a:xfrm>
          <a:custGeom>
            <a:avLst/>
            <a:gdLst/>
            <a:ahLst/>
            <a:cxnLst/>
            <a:rect l="l" t="t" r="r" b="b"/>
            <a:pathLst>
              <a:path w="5057775" h="2590800">
                <a:moveTo>
                  <a:pt x="0" y="0"/>
                </a:moveTo>
                <a:lnTo>
                  <a:pt x="5057775" y="0"/>
                </a:lnTo>
                <a:lnTo>
                  <a:pt x="5057775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55160" y="156210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38" name="Shape 36"/>
          <p:cNvSpPr/>
          <p:nvPr/>
        </p:nvSpPr>
        <p:spPr>
          <a:xfrm>
            <a:off x="6950422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39" name="Text 37"/>
          <p:cNvSpPr/>
          <p:nvPr/>
        </p:nvSpPr>
        <p:spPr>
          <a:xfrm>
            <a:off x="7164735" y="17145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Multi-Layered Strategy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26610" y="2095500"/>
            <a:ext cx="4810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most effective approach addresses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7A80"/>
                </a:solidFill>
                <a:highlight>
                  <a:srgbClr val="387A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levels simultaneously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—individual, organizational, and societal.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26610" y="2705100"/>
            <a:ext cx="4733925" cy="609600"/>
          </a:xfrm>
          <a:custGeom>
            <a:avLst/>
            <a:gdLst/>
            <a:ahLst/>
            <a:cxnLst/>
            <a:rect l="l" t="t" r="r" b="b"/>
            <a:pathLst>
              <a:path w="4733925" h="609600">
                <a:moveTo>
                  <a:pt x="38100" y="0"/>
                </a:moveTo>
                <a:lnTo>
                  <a:pt x="4695825" y="0"/>
                </a:lnTo>
                <a:cubicBezTo>
                  <a:pt x="4716853" y="0"/>
                  <a:pt x="4733925" y="17072"/>
                  <a:pt x="4733925" y="38100"/>
                </a:cubicBezTo>
                <a:lnTo>
                  <a:pt x="4733925" y="571500"/>
                </a:lnTo>
                <a:cubicBezTo>
                  <a:pt x="4733925" y="592528"/>
                  <a:pt x="4716853" y="609600"/>
                  <a:pt x="46958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02810" y="2781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3" name="Text 41"/>
          <p:cNvSpPr/>
          <p:nvPr/>
        </p:nvSpPr>
        <p:spPr>
          <a:xfrm>
            <a:off x="6974235" y="27813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07610" y="27813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(Micro)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02810" y="3048000"/>
            <a:ext cx="464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skills, critical thinking, verification habits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26610" y="3390900"/>
            <a:ext cx="4733925" cy="609600"/>
          </a:xfrm>
          <a:custGeom>
            <a:avLst/>
            <a:gdLst/>
            <a:ahLst/>
            <a:cxnLst/>
            <a:rect l="l" t="t" r="r" b="b"/>
            <a:pathLst>
              <a:path w="4733925" h="609600">
                <a:moveTo>
                  <a:pt x="38100" y="0"/>
                </a:moveTo>
                <a:lnTo>
                  <a:pt x="4695825" y="0"/>
                </a:lnTo>
                <a:cubicBezTo>
                  <a:pt x="4716853" y="0"/>
                  <a:pt x="4733925" y="17072"/>
                  <a:pt x="4733925" y="38100"/>
                </a:cubicBezTo>
                <a:lnTo>
                  <a:pt x="4733925" y="571500"/>
                </a:lnTo>
                <a:cubicBezTo>
                  <a:pt x="4733925" y="592528"/>
                  <a:pt x="4716853" y="609600"/>
                  <a:pt x="46958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02810" y="3467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48" name="Text 46"/>
          <p:cNvSpPr/>
          <p:nvPr/>
        </p:nvSpPr>
        <p:spPr>
          <a:xfrm>
            <a:off x="6974235" y="3467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07610" y="34671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Organizational (Meso)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02810" y="3733800"/>
            <a:ext cx="464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Newsroom policies, platform design, library programs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55160" y="4267200"/>
            <a:ext cx="5057775" cy="2514600"/>
          </a:xfrm>
          <a:custGeom>
            <a:avLst/>
            <a:gdLst/>
            <a:ahLst/>
            <a:cxnLst/>
            <a:rect l="l" t="t" r="r" b="b"/>
            <a:pathLst>
              <a:path w="5057775" h="2514600">
                <a:moveTo>
                  <a:pt x="0" y="0"/>
                </a:moveTo>
                <a:lnTo>
                  <a:pt x="5057775" y="0"/>
                </a:lnTo>
                <a:lnTo>
                  <a:pt x="5057775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55160" y="42672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3" name="Shape 51"/>
          <p:cNvSpPr/>
          <p:nvPr/>
        </p:nvSpPr>
        <p:spPr>
          <a:xfrm>
            <a:off x="6983760" y="50196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54" name="Text 52"/>
          <p:cNvSpPr/>
          <p:nvPr/>
        </p:nvSpPr>
        <p:spPr>
          <a:xfrm>
            <a:off x="7326660" y="4981575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Success Factors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26660" y="5324475"/>
            <a:ext cx="4410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 are most effective when they are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ongoing, not one-time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incorporate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learning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and address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9F54"/>
                </a:solidFill>
                <a:highlight>
                  <a:srgbClr val="E59F5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manipulation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tactics.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a7e3b480bd4e7431a7078b381ca869934d56b3d7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93455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934553"/>
          </a:xfrm>
          <a:custGeom>
            <a:avLst/>
            <a:gdLst/>
            <a:ahLst/>
            <a:cxnLst/>
            <a:rect l="l" t="t" r="r" b="b"/>
            <a:pathLst>
              <a:path w="12192000" h="6934553">
                <a:moveTo>
                  <a:pt x="0" y="0"/>
                </a:moveTo>
                <a:lnTo>
                  <a:pt x="12192000" y="0"/>
                </a:lnTo>
                <a:lnTo>
                  <a:pt x="12192000" y="6934553"/>
                </a:lnTo>
                <a:lnTo>
                  <a:pt x="0" y="693455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87A80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97940" y="7508"/>
            <a:ext cx="2402597" cy="499363"/>
          </a:xfrm>
          <a:custGeom>
            <a:avLst/>
            <a:gdLst/>
            <a:ahLst/>
            <a:cxnLst/>
            <a:rect l="l" t="t" r="r" b="b"/>
            <a:pathLst>
              <a:path w="2402597" h="499363">
                <a:moveTo>
                  <a:pt x="0" y="0"/>
                </a:moveTo>
                <a:lnTo>
                  <a:pt x="2402597" y="0"/>
                </a:lnTo>
                <a:lnTo>
                  <a:pt x="2402597" y="499363"/>
                </a:lnTo>
                <a:lnTo>
                  <a:pt x="0" y="499363"/>
                </a:lnTo>
                <a:lnTo>
                  <a:pt x="0" y="0"/>
                </a:lnTo>
                <a:close/>
              </a:path>
            </a:pathLst>
          </a:custGeom>
          <a:solidFill>
            <a:srgbClr val="387A80">
              <a:alpha val="30196"/>
            </a:srgbClr>
          </a:solidFill>
          <a:ln w="12700">
            <a:solidFill>
              <a:srgbClr val="E59F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6379" y="125282"/>
            <a:ext cx="202571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spc="134" kern="0" dirty="0">
                <a:solidFill>
                  <a:srgbClr val="E59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1664" y="813085"/>
            <a:ext cx="9930733" cy="141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Empowering Information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16462" y="2527879"/>
            <a:ext cx="9761138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0E2E5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fake news detection lies in the combination of 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387A80"/>
                </a:solidFill>
                <a:highlight>
                  <a:srgbClr val="387A80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AI technologies 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0E2E5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387A80"/>
                </a:solidFill>
                <a:highlight>
                  <a:srgbClr val="387A80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education 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0E2E5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387A80"/>
                </a:solidFill>
                <a:highlight>
                  <a:srgbClr val="387A80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citizen engagement 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0E2E5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88" y="3488918"/>
            <a:ext cx="8536284" cy="6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8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understanding detection methods and developing critical media literacy, we can collectively build a more resilient information ecosystem.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80908" y="4478222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0" y="0"/>
                </a:moveTo>
                <a:lnTo>
                  <a:pt x="603005" y="0"/>
                </a:lnTo>
                <a:lnTo>
                  <a:pt x="603005" y="603005"/>
                </a:lnTo>
                <a:lnTo>
                  <a:pt x="0" y="60300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0" name="Shape 7"/>
          <p:cNvSpPr/>
          <p:nvPr/>
        </p:nvSpPr>
        <p:spPr>
          <a:xfrm>
            <a:off x="3069347" y="4666661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13063" y="0"/>
                </a:moveTo>
                <a:cubicBezTo>
                  <a:pt x="115095" y="0"/>
                  <a:pt x="117127" y="442"/>
                  <a:pt x="118982" y="1281"/>
                </a:cubicBezTo>
                <a:lnTo>
                  <a:pt x="202189" y="36569"/>
                </a:lnTo>
                <a:cubicBezTo>
                  <a:pt x="211905" y="40676"/>
                  <a:pt x="219149" y="50260"/>
                  <a:pt x="219104" y="61832"/>
                </a:cubicBezTo>
                <a:cubicBezTo>
                  <a:pt x="218884" y="105644"/>
                  <a:pt x="200864" y="185804"/>
                  <a:pt x="124767" y="222240"/>
                </a:cubicBezTo>
                <a:cubicBezTo>
                  <a:pt x="117392" y="225773"/>
                  <a:pt x="108823" y="225773"/>
                  <a:pt x="101448" y="222240"/>
                </a:cubicBezTo>
                <a:cubicBezTo>
                  <a:pt x="25307" y="185804"/>
                  <a:pt x="7331" y="105644"/>
                  <a:pt x="7111" y="61832"/>
                </a:cubicBezTo>
                <a:cubicBezTo>
                  <a:pt x="7066" y="50260"/>
                  <a:pt x="14310" y="40676"/>
                  <a:pt x="24026" y="36569"/>
                </a:cubicBezTo>
                <a:lnTo>
                  <a:pt x="107189" y="1281"/>
                </a:lnTo>
                <a:cubicBezTo>
                  <a:pt x="109044" y="442"/>
                  <a:pt x="111032" y="0"/>
                  <a:pt x="113063" y="0"/>
                </a:cubicBezTo>
                <a:close/>
                <a:moveTo>
                  <a:pt x="113063" y="29502"/>
                </a:moveTo>
                <a:lnTo>
                  <a:pt x="113063" y="196492"/>
                </a:lnTo>
                <a:cubicBezTo>
                  <a:pt x="174012" y="166989"/>
                  <a:pt x="190397" y="101625"/>
                  <a:pt x="190794" y="62494"/>
                </a:cubicBezTo>
                <a:lnTo>
                  <a:pt x="113063" y="29547"/>
                </a:lnTo>
                <a:lnTo>
                  <a:pt x="113063" y="29547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88" y="5231978"/>
            <a:ext cx="270409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38310" y="5571168"/>
            <a:ext cx="268525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AI and analytical tools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95381" y="4478222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0" y="0"/>
                </a:moveTo>
                <a:lnTo>
                  <a:pt x="603005" y="0"/>
                </a:lnTo>
                <a:lnTo>
                  <a:pt x="603005" y="603005"/>
                </a:lnTo>
                <a:lnTo>
                  <a:pt x="0" y="60300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4" name="Shape 11"/>
          <p:cNvSpPr/>
          <p:nvPr/>
        </p:nvSpPr>
        <p:spPr>
          <a:xfrm>
            <a:off x="5969687" y="4666661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21199" y="86476"/>
                </a:moveTo>
                <a:lnTo>
                  <a:pt x="113593" y="124502"/>
                </a:lnTo>
                <a:cubicBezTo>
                  <a:pt x="117922" y="126269"/>
                  <a:pt x="122515" y="127196"/>
                  <a:pt x="127196" y="127196"/>
                </a:cubicBezTo>
                <a:cubicBezTo>
                  <a:pt x="131878" y="127196"/>
                  <a:pt x="136471" y="126269"/>
                  <a:pt x="140799" y="124502"/>
                </a:cubicBezTo>
                <a:lnTo>
                  <a:pt x="247856" y="80425"/>
                </a:lnTo>
                <a:cubicBezTo>
                  <a:pt x="251831" y="78791"/>
                  <a:pt x="254393" y="74949"/>
                  <a:pt x="254393" y="70665"/>
                </a:cubicBezTo>
                <a:cubicBezTo>
                  <a:pt x="254393" y="66381"/>
                  <a:pt x="251831" y="62538"/>
                  <a:pt x="247856" y="60904"/>
                </a:cubicBezTo>
                <a:lnTo>
                  <a:pt x="140799" y="16827"/>
                </a:lnTo>
                <a:cubicBezTo>
                  <a:pt x="136471" y="15060"/>
                  <a:pt x="131878" y="14133"/>
                  <a:pt x="127196" y="14133"/>
                </a:cubicBezTo>
                <a:cubicBezTo>
                  <a:pt x="122515" y="14133"/>
                  <a:pt x="117922" y="15060"/>
                  <a:pt x="113593" y="16827"/>
                </a:cubicBezTo>
                <a:lnTo>
                  <a:pt x="6536" y="60904"/>
                </a:lnTo>
                <a:cubicBezTo>
                  <a:pt x="2562" y="62538"/>
                  <a:pt x="0" y="66381"/>
                  <a:pt x="0" y="70665"/>
                </a:cubicBezTo>
                <a:lnTo>
                  <a:pt x="0" y="201394"/>
                </a:lnTo>
                <a:cubicBezTo>
                  <a:pt x="0" y="207268"/>
                  <a:pt x="4726" y="211994"/>
                  <a:pt x="10600" y="211994"/>
                </a:cubicBezTo>
                <a:cubicBezTo>
                  <a:pt x="16474" y="211994"/>
                  <a:pt x="21199" y="207268"/>
                  <a:pt x="21199" y="201394"/>
                </a:cubicBezTo>
                <a:lnTo>
                  <a:pt x="21199" y="86476"/>
                </a:lnTo>
                <a:close/>
                <a:moveTo>
                  <a:pt x="42399" y="118142"/>
                </a:moveTo>
                <a:lnTo>
                  <a:pt x="42399" y="169595"/>
                </a:lnTo>
                <a:cubicBezTo>
                  <a:pt x="42399" y="193003"/>
                  <a:pt x="80381" y="211994"/>
                  <a:pt x="127196" y="211994"/>
                </a:cubicBezTo>
                <a:cubicBezTo>
                  <a:pt x="174012" y="211994"/>
                  <a:pt x="211994" y="193003"/>
                  <a:pt x="211994" y="169595"/>
                </a:cubicBezTo>
                <a:lnTo>
                  <a:pt x="211994" y="118098"/>
                </a:lnTo>
                <a:lnTo>
                  <a:pt x="148881" y="144112"/>
                </a:lnTo>
                <a:cubicBezTo>
                  <a:pt x="141992" y="146938"/>
                  <a:pt x="134660" y="148396"/>
                  <a:pt x="127196" y="148396"/>
                </a:cubicBezTo>
                <a:cubicBezTo>
                  <a:pt x="119732" y="148396"/>
                  <a:pt x="112401" y="146938"/>
                  <a:pt x="105511" y="144112"/>
                </a:cubicBezTo>
                <a:lnTo>
                  <a:pt x="42399" y="11809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2"/>
          <p:cNvSpPr/>
          <p:nvPr/>
        </p:nvSpPr>
        <p:spPr>
          <a:xfrm>
            <a:off x="4743362" y="5231978"/>
            <a:ext cx="270409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52784" y="5571168"/>
            <a:ext cx="268525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critical thinking skills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10002" y="4478222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0" y="0"/>
                </a:moveTo>
                <a:lnTo>
                  <a:pt x="603005" y="0"/>
                </a:lnTo>
                <a:lnTo>
                  <a:pt x="603005" y="603005"/>
                </a:lnTo>
                <a:lnTo>
                  <a:pt x="0" y="603005"/>
                </a:lnTo>
                <a:lnTo>
                  <a:pt x="0" y="0"/>
                </a:lnTo>
                <a:close/>
              </a:path>
            </a:pathLst>
          </a:custGeom>
          <a:solidFill>
            <a:srgbClr val="387A80"/>
          </a:solidFill>
          <a:ln/>
        </p:spPr>
      </p:sp>
      <p:sp>
        <p:nvSpPr>
          <p:cNvPr id="18" name="Shape 15"/>
          <p:cNvSpPr/>
          <p:nvPr/>
        </p:nvSpPr>
        <p:spPr>
          <a:xfrm>
            <a:off x="8870175" y="4666661"/>
            <a:ext cx="282658" cy="226127"/>
          </a:xfrm>
          <a:custGeom>
            <a:avLst/>
            <a:gdLst/>
            <a:ahLst/>
            <a:cxnLst/>
            <a:rect l="l" t="t" r="r" b="b"/>
            <a:pathLst>
              <a:path w="282658" h="226127">
                <a:moveTo>
                  <a:pt x="141329" y="7066"/>
                </a:moveTo>
                <a:cubicBezTo>
                  <a:pt x="166680" y="7066"/>
                  <a:pt x="187261" y="27648"/>
                  <a:pt x="187261" y="52998"/>
                </a:cubicBezTo>
                <a:cubicBezTo>
                  <a:pt x="187261" y="78349"/>
                  <a:pt x="166680" y="98930"/>
                  <a:pt x="141329" y="98930"/>
                </a:cubicBezTo>
                <a:cubicBezTo>
                  <a:pt x="115979" y="98930"/>
                  <a:pt x="95397" y="78349"/>
                  <a:pt x="95397" y="52998"/>
                </a:cubicBezTo>
                <a:cubicBezTo>
                  <a:pt x="95397" y="27648"/>
                  <a:pt x="115979" y="7066"/>
                  <a:pt x="141329" y="7066"/>
                </a:cubicBezTo>
                <a:close/>
                <a:moveTo>
                  <a:pt x="42399" y="38866"/>
                </a:moveTo>
                <a:cubicBezTo>
                  <a:pt x="59949" y="38866"/>
                  <a:pt x="74198" y="53114"/>
                  <a:pt x="74198" y="70665"/>
                </a:cubicBezTo>
                <a:cubicBezTo>
                  <a:pt x="74198" y="88215"/>
                  <a:pt x="59949" y="102464"/>
                  <a:pt x="42399" y="102464"/>
                </a:cubicBezTo>
                <a:cubicBezTo>
                  <a:pt x="24848" y="102464"/>
                  <a:pt x="10600" y="88215"/>
                  <a:pt x="10600" y="70665"/>
                </a:cubicBezTo>
                <a:cubicBezTo>
                  <a:pt x="10600" y="53114"/>
                  <a:pt x="24848" y="38866"/>
                  <a:pt x="42399" y="38866"/>
                </a:cubicBezTo>
                <a:close/>
                <a:moveTo>
                  <a:pt x="0" y="183728"/>
                </a:moveTo>
                <a:cubicBezTo>
                  <a:pt x="0" y="152503"/>
                  <a:pt x="25307" y="127196"/>
                  <a:pt x="56532" y="127196"/>
                </a:cubicBezTo>
                <a:cubicBezTo>
                  <a:pt x="62185" y="127196"/>
                  <a:pt x="67661" y="128035"/>
                  <a:pt x="72829" y="129581"/>
                </a:cubicBezTo>
                <a:cubicBezTo>
                  <a:pt x="58298" y="145834"/>
                  <a:pt x="49465" y="167298"/>
                  <a:pt x="49465" y="190794"/>
                </a:cubicBezTo>
                <a:lnTo>
                  <a:pt x="49465" y="197861"/>
                </a:lnTo>
                <a:cubicBezTo>
                  <a:pt x="49465" y="202896"/>
                  <a:pt x="50525" y="207666"/>
                  <a:pt x="52424" y="211994"/>
                </a:cubicBezTo>
                <a:lnTo>
                  <a:pt x="14133" y="211994"/>
                </a:lnTo>
                <a:cubicBezTo>
                  <a:pt x="6316" y="211994"/>
                  <a:pt x="0" y="205678"/>
                  <a:pt x="0" y="197861"/>
                </a:cubicBezTo>
                <a:lnTo>
                  <a:pt x="0" y="183728"/>
                </a:lnTo>
                <a:close/>
                <a:moveTo>
                  <a:pt x="230234" y="211994"/>
                </a:moveTo>
                <a:cubicBezTo>
                  <a:pt x="232133" y="207666"/>
                  <a:pt x="233193" y="202896"/>
                  <a:pt x="233193" y="197861"/>
                </a:cubicBezTo>
                <a:lnTo>
                  <a:pt x="233193" y="190794"/>
                </a:lnTo>
                <a:cubicBezTo>
                  <a:pt x="233193" y="167298"/>
                  <a:pt x="224360" y="145834"/>
                  <a:pt x="209830" y="129581"/>
                </a:cubicBezTo>
                <a:cubicBezTo>
                  <a:pt x="214997" y="128035"/>
                  <a:pt x="220474" y="127196"/>
                  <a:pt x="226127" y="127196"/>
                </a:cubicBezTo>
                <a:cubicBezTo>
                  <a:pt x="257352" y="127196"/>
                  <a:pt x="282658" y="152503"/>
                  <a:pt x="282658" y="183728"/>
                </a:cubicBezTo>
                <a:lnTo>
                  <a:pt x="282658" y="197861"/>
                </a:lnTo>
                <a:cubicBezTo>
                  <a:pt x="282658" y="205678"/>
                  <a:pt x="276343" y="211994"/>
                  <a:pt x="268526" y="211994"/>
                </a:cubicBezTo>
                <a:lnTo>
                  <a:pt x="230234" y="211994"/>
                </a:lnTo>
                <a:close/>
                <a:moveTo>
                  <a:pt x="208461" y="70665"/>
                </a:moveTo>
                <a:cubicBezTo>
                  <a:pt x="208461" y="53114"/>
                  <a:pt x="222709" y="38866"/>
                  <a:pt x="240260" y="38866"/>
                </a:cubicBezTo>
                <a:cubicBezTo>
                  <a:pt x="257810" y="38866"/>
                  <a:pt x="272059" y="53114"/>
                  <a:pt x="272059" y="70665"/>
                </a:cubicBezTo>
                <a:cubicBezTo>
                  <a:pt x="272059" y="88215"/>
                  <a:pt x="257810" y="102464"/>
                  <a:pt x="240260" y="102464"/>
                </a:cubicBezTo>
                <a:cubicBezTo>
                  <a:pt x="222709" y="102464"/>
                  <a:pt x="208461" y="88215"/>
                  <a:pt x="208461" y="70665"/>
                </a:cubicBezTo>
                <a:close/>
                <a:moveTo>
                  <a:pt x="70665" y="190794"/>
                </a:moveTo>
                <a:cubicBezTo>
                  <a:pt x="70665" y="151752"/>
                  <a:pt x="102287" y="120130"/>
                  <a:pt x="141329" y="120130"/>
                </a:cubicBezTo>
                <a:cubicBezTo>
                  <a:pt x="180371" y="120130"/>
                  <a:pt x="211994" y="151752"/>
                  <a:pt x="211994" y="190794"/>
                </a:cubicBezTo>
                <a:lnTo>
                  <a:pt x="211994" y="197861"/>
                </a:lnTo>
                <a:cubicBezTo>
                  <a:pt x="211994" y="205678"/>
                  <a:pt x="205678" y="211994"/>
                  <a:pt x="197861" y="211994"/>
                </a:cubicBezTo>
                <a:lnTo>
                  <a:pt x="84798" y="211994"/>
                </a:lnTo>
                <a:cubicBezTo>
                  <a:pt x="76980" y="211994"/>
                  <a:pt x="70665" y="205678"/>
                  <a:pt x="70665" y="197861"/>
                </a:cubicBezTo>
                <a:lnTo>
                  <a:pt x="70665" y="19079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6"/>
          <p:cNvSpPr/>
          <p:nvPr/>
        </p:nvSpPr>
        <p:spPr>
          <a:xfrm>
            <a:off x="7657835" y="5231978"/>
            <a:ext cx="270409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67257" y="5571168"/>
            <a:ext cx="268525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Citizens as active defenders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94842" y="6174173"/>
            <a:ext cx="8423221" cy="763178"/>
          </a:xfrm>
          <a:custGeom>
            <a:avLst/>
            <a:gdLst/>
            <a:ahLst/>
            <a:cxnLst/>
            <a:rect l="l" t="t" r="r" b="b"/>
            <a:pathLst>
              <a:path w="8423221" h="763178">
                <a:moveTo>
                  <a:pt x="0" y="0"/>
                </a:moveTo>
                <a:lnTo>
                  <a:pt x="8423221" y="0"/>
                </a:lnTo>
                <a:lnTo>
                  <a:pt x="8423221" y="763178"/>
                </a:lnTo>
                <a:lnTo>
                  <a:pt x="0" y="763178"/>
                </a:lnTo>
                <a:lnTo>
                  <a:pt x="0" y="0"/>
                </a:lnTo>
                <a:close/>
              </a:path>
            </a:pathLst>
          </a:custGeom>
          <a:solidFill>
            <a:srgbClr val="E59F54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894842" y="6174173"/>
            <a:ext cx="37688" cy="763178"/>
          </a:xfrm>
          <a:custGeom>
            <a:avLst/>
            <a:gdLst/>
            <a:ahLst/>
            <a:cxnLst/>
            <a:rect l="l" t="t" r="r" b="b"/>
            <a:pathLst>
              <a:path w="37688" h="763178">
                <a:moveTo>
                  <a:pt x="0" y="0"/>
                </a:moveTo>
                <a:lnTo>
                  <a:pt x="37688" y="0"/>
                </a:lnTo>
                <a:lnTo>
                  <a:pt x="37688" y="763178"/>
                </a:lnTo>
                <a:lnTo>
                  <a:pt x="0" y="763178"/>
                </a:lnTo>
                <a:lnTo>
                  <a:pt x="0" y="0"/>
                </a:lnTo>
                <a:close/>
              </a:path>
            </a:pathLst>
          </a:custGeom>
          <a:solidFill>
            <a:srgbClr val="E59F54"/>
          </a:solidFill>
          <a:ln/>
        </p:spPr>
      </p:sp>
      <p:sp>
        <p:nvSpPr>
          <p:cNvPr id="23" name="Text 20"/>
          <p:cNvSpPr/>
          <p:nvPr/>
        </p:nvSpPr>
        <p:spPr>
          <a:xfrm>
            <a:off x="2433365" y="6447409"/>
            <a:ext cx="7365019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84" b="1" dirty="0">
                <a:solidFill>
                  <a:srgbClr val="E59F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responsibility to verify information before sharing is everyone's duty in the digital age.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Fake News</dc:title>
  <dc:subject>Detecting Fake News</dc:subject>
  <dc:creator>Kimi</dc:creator>
  <cp:lastModifiedBy>Kimi</cp:lastModifiedBy>
  <cp:revision>1</cp:revision>
  <dcterms:created xsi:type="dcterms:W3CDTF">2026-01-22T10:40:20Z</dcterms:created>
  <dcterms:modified xsi:type="dcterms:W3CDTF">2026-01-22T10:40:20Z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{"Label":"Detecting Fake News","ContentProducer":"001191110108MACG2KBH8F10000","ProduceID":"19be5348-a592-8b07-8000-0000cf590115","ReservedCode1":"","ContentPropagator":"001191110108MACG2KBH8F20000","PropagateID":"19be5348-a592-8b07-8000-0000cf590115","ReservedCode2":""}</vt:lpwstr>
  </property>
</Properties>
</file>